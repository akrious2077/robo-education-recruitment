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用一个电阻和一个电容组成的RC低通滤波器，认识从电路想法到PCB的完整过程。工具是嘉立创EDA专业版。十分钟后，希望大家能说清设计流程，区分仿真模型和PCB封装，并知道提交制造文件之前需要检查什么。右边是课堂示意，不是已经制造或检查过的实物板。后续实操课会带大家一步步完成自己的项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这条工作链路。需求告诉我们想保留哪些信号、容许多少衰减；仿真观察电路的电气表现；工程原理图明确网络连接与器件，并核对封装。PCB阶段把这些连接落实到元件位置和铜线。最后检查规则和工程意图，再复核导出的制造文件。这是本课对工程流程的整理。仿真与PCB承担不同任务，所以不能只完成其中一个环节就认为整个设计已经可靠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这张图认识专业版的编辑工作区。它是按官方文档整理的区域示意，不是软件截图，面板位置也可以随布局变化。第一，左侧图页树用来找工程文件，双击图页可以打开仿真、原理图或PCB。第二，顶部菜单执行放置、设计和导出，工具栏会随当前图页变化，所以先确认自己打开的是哪类图。第三，中央画布编辑元件和连接，这里用本课RC电路示意。第四，选中器件后，到右侧属性核对位号、值和封装；图中电阻是一千欧、封装以0603作为课堂示例。第五，底部元件库负责搜索和放置器件，选中后双击或点击放置即可。记住一个操作习惯：先找对图页，再放器件，选中对象后修改属性。图示和入口依据官方使用界面、图页树、属性面板与元件库文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入口连成实际操作。先在开始页创建工程，课堂可以命名为RC_Filter；按官方文档，新建工程默认包含板子、原理图与PCB。我们分两步完成同一个案例。第一步验证电气行为：在工程树右键新建仿真，选择NGSpice，首次按提示安装引擎。用仿真器件连接电阻、电容、信号源与地，参数设为一千欧和一百纳法；放置VIN与VOUT探针，选择AC分析，从十赫兹到一百千赫兹观察波形。第二步准备制造设计：打开工程原理图，通过底部元件库搜索并放置器件，在右侧核对值和封装；用放置菜单的导线与网络标签命名VIN、VOUT、GND，并核对引脚。最后从设计菜单进入原理图转PCB，保证原理图和PCB在同一板子下，确认变更后应用修改。这两类图页需要人工核对相同参数和网络，不能假定仿真器件自动具有制造封装。入口依据官方创建工程、仿真与转PCB指南，参数为课堂示例，菜单按实际版本确认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着图从左向右看：输入经过电阻R到达输出节点，电容C从这个节点接到地，输出测量跨接电容。这样的无源RC电路保留低频、减弱高频变化，可以用于传感器信号滤波。本课给定R为一千欧、C为一百纳法。理想模型中，时间常数等于RC，是一百微秒；截止频率等于一除以二πRC，约一点五九千赫兹。这些是示例参数的理论计算，没有实测。真实设计还需要考虑信号源阻抗、输出负载和器件容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嘉立创EDA专业版官方指南介绍了Simulide和NGSpice两种引擎，本课使用NGSpice。第一步是在工程树中右键新建仿真图页，选择NGSpice。左边截图展示的是官方的引擎选择入口。第二步放置能够参与仿真的电阻、电容、交流源与地，核对连接与参数；交流小信号幅值可以设为一伏。第三步放置输入和输出电压探针。第四步选择AC分析，从十赫兹到一百千赫兹进行对数扫频，比较输入与输出。AC分析是工作点附近的小信号分析。首次使用需要按提示安装引擎，菜单以实际版本为准；这里没有声称已经运行了这个课程电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图由理想RC公式计算得到，横轴按频率的对数映射，纵轴是增益的分贝值，不是软件实跑结果。先看一百赫兹，增益接近零分贝，输出幅度几乎与输入一样。橙色点是约一点五九千赫兹的截止点：幅度比为一除以根号二，约百分之七十点七，对应负三点零一分贝。再看十千赫兹，增益约负十六点一分贝，衰减明显。右下给出了幅度公式，增益用二十乘以幅度比的常用对数表示。实际仿真要比较这些预期；若不一致，先检查参数、模型、负载及输入输出的测量方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是仿真模型的职责：描述电气行为和参数，用来计算电压、电流与响应。右边是封装的职责：描述实际尺寸、焊盘与引脚位置。本课用0603作为封装练习示例，图是示意，选具体器件时仍要查规格。电路可以参与仿真，并不保证它已经具有正确的制造封装。因此，我们另建工程原理图，保持相同网络和R、C参数，逐个核对符号引脚与封装焊盘的映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转换之前先做两项检查。第一，VIN、VOUT和GND网络是否正确，电阻电容参数是否与仿真一致。第二，所有器件是否已经指定封装，符号引脚编号是否与封装焊盘对应。接着从设计菜单进入原理图转PCB，确认变更并导入。左边保留了官方完整菜单截图，实际版本的文字可能有调整。进入PCB后，飞线只是尚未完成连接的提示，还不是铜线；应确认板框及双层铜层设置。后续修改原理图，需要同步到同一板子下的PCB，避免两者不一致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观察元件位置。左边输入接口、右边输出接口，电阻沿信号路径摆放；电容靠近输出节点，其另一端接地。虚线是教学示意中的飞线，它只表达连接关系，并不是已经完成的铜线。位置有了理由，之后布线会更容易理解：输入到输出路径短而清楚，同时要留出焊接、连接器插拔和机械安装的空间。图中板形、焊盘大小和元件位置仅用于教学，不能作为实际制造尺寸，也没有执行软件DRC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与上一页比较，元件位置没有变，新增橙色信号走线和青绿色地连接。信号从VIN经过R到VOUT，电容上端接输出节点，下端接GND。尽量减少绕行和不必要的跨层，但不要为了图形好看改变网络。建立铜区时，需要选择正确的层和GND网络；修改布局或走线以后，重新构建铜区，再检查地连接和剩余飞线。这里的铜区和路径仍是教学示意，没有通过软件DRC。铺铜不能自动证明接地质量；真实项目的线宽、间距和板边距离要按实际规则检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检查分为软件规则检查和人工工程复核。左边首先看是否还有残余飞线和未连接网络，再检查线宽、间距以及板边距离；规则应与制造商当前的工艺能力相符。右边核对封装、引脚、器件方向与实际连接意图，检查丝印是否可读、器件是否有安装和焊接空间，还要检查电路功能与接口。官方DRC是依据当前项目规则进行检查，因此没有报错并不能证明电路功能正确，也不覆盖所有装配和制造问题。两类检查都做完，交付依据才完整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把制造资料整理为四类。铜层要核对顶层和底层是否齐全、连接是否正确；阻焊与丝印要检查开窗和文字；板框需要确认闭合外形；钻孔需要核对孔位和孔径。图中的文件图标只是帮助记忆，不是实际导出的Gerber文件。导出Gerber之后，再用二维、三维和Gerber预览检查将要生产的板，避免只看设计界面。提交时还要按制造要求核对层叠，不能假定编辑器中的设置会自动等同于厂家最终工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三个问题检查理解。截止频率处输出幅度是多少？约为输入的百分之七十点七。为什么模型不能替代封装？因为模型描述电气行为，封装还要表达实际尺寸、焊盘和引脚映射。Gerber导出前还要查什么？除了DRC，还要核对网络、封装、方向、装配、丝印，以及铜层、板框和钻孔等制造信息。课后保持电阻不变，把电容改成二百二十纳法，先预测截止频率，再进行仿真，并同步修改工程原理图参数。预期截止频率约为七百二十三赫兹，这是理想模型计算。记住：先预测，再验证，再落实到PCB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cb_lceda_cour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cb_lceda_cour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143e7eda71876c6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f3ed00bdb7d379e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urse-kicker"/>
          <p:cNvGrpSpPr/>
          <p:nvPr/>
        </p:nvGrpSpPr>
        <p:grpSpPr>
          <a:xfrm>
            <a:off x="603504" y="628650"/>
            <a:ext cx="658368" cy="234696"/>
            <a:chOff x="603504" y="628650"/>
            <a:chExt cx="65836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6286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电子设计</a:t>
              </a:r>
            </a:p>
          </p:txBody>
        </p:sp>
      </p:grpSp>
      <p:grpSp>
        <p:nvGrpSpPr>
          <p:cNvPr id="5" name="cover-title"/>
          <p:cNvGrpSpPr/>
          <p:nvPr/>
        </p:nvGrpSpPr>
        <p:grpSpPr>
          <a:xfrm>
            <a:off x="590550" y="1631950"/>
            <a:ext cx="2882265" cy="2095500"/>
            <a:chOff x="590550" y="1631950"/>
            <a:chExt cx="2882265" cy="2095500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1631950"/>
              <a:ext cx="2882265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350"/>
                </a:lnSpc>
              </a:pPr>
              <a: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PCB设计</a:t>
              </a:r>
              <a:b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与仿真</a:t>
              </a:r>
            </a:p>
          </p:txBody>
        </p:sp>
      </p:grpSp>
      <p:grpSp>
        <p:nvGrpSpPr>
          <p:cNvPr id="7" name="cover-subtitle"/>
          <p:cNvGrpSpPr/>
          <p:nvPr/>
        </p:nvGrpSpPr>
        <p:grpSpPr>
          <a:xfrm>
            <a:off x="597408" y="3832225"/>
            <a:ext cx="3172358" cy="469392"/>
            <a:chOff x="597408" y="3832225"/>
            <a:chExt cx="3172358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3832225"/>
              <a:ext cx="31723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嘉立创EDA专业版入门</a:t>
              </a:r>
            </a:p>
          </p:txBody>
        </p:sp>
      </p:grpSp>
      <p:grpSp>
        <p:nvGrpSpPr>
          <p:cNvPr id="11" name="cover-promise"/>
          <p:cNvGrpSpPr/>
          <p:nvPr/>
        </p:nvGrpSpPr>
        <p:grpSpPr>
          <a:xfrm>
            <a:off x="609600" y="4572000"/>
            <a:ext cx="4133469" cy="895350"/>
            <a:chOff x="609600" y="4572000"/>
            <a:chExt cx="4133469" cy="895350"/>
          </a:xfrm>
        </p:grpSpPr>
        <p:sp>
          <p:nvSpPr>
            <p:cNvPr id="8" name="Rectangle 8"/>
            <p:cNvSpPr/>
            <p:nvPr/>
          </p:nvSpPr>
          <p:spPr>
            <a:xfrm>
              <a:off x="609600" y="4572000"/>
              <a:ext cx="47625" cy="895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532" y="46132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从电路到电路板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5108575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认识流程 · 理解模型与封装 · 掌握检查要点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6667500" y="1619250"/>
            <a:ext cx="4762500" cy="4000500"/>
          </a:xfrm>
          <a:prstGeom prst="foldedCorner">
            <a:avLst/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34" name="rc-cover-sketch"/>
          <p:cNvGrpSpPr/>
          <p:nvPr/>
        </p:nvGrpSpPr>
        <p:grpSpPr>
          <a:xfrm>
            <a:off x="7143750" y="2190750"/>
            <a:ext cx="3790950" cy="2667000"/>
            <a:chOff x="7143750" y="2190750"/>
            <a:chExt cx="3790950" cy="2667000"/>
          </a:xfrm>
        </p:grpSpPr>
        <p:sp>
          <p:nvSpPr>
            <p:cNvPr id="13" name="Rectangle 13"/>
            <p:cNvSpPr/>
            <p:nvPr/>
          </p:nvSpPr>
          <p:spPr>
            <a:xfrm>
              <a:off x="7143750" y="2190750"/>
              <a:ext cx="3790950" cy="2667000"/>
            </a:xfrm>
            <a:prstGeom prst="roundRect">
              <a:avLst>
                <a:gd name="adj" fmla="val 1429"/>
              </a:avLst>
            </a:prstGeom>
            <a:solidFill>
              <a:schemeClr val="accent1">
                <a:alpha val="4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24725" y="2352675"/>
              <a:ext cx="133350" cy="1333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0375" y="2352675"/>
              <a:ext cx="133350" cy="1333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2830" y="26606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26980" y="26606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505700" y="32385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48650" y="3086100"/>
              <a:ext cx="685800" cy="304800"/>
            </a:xfrm>
            <a:prstGeom prst="rect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934450" y="3238500"/>
              <a:ext cx="1581150" cy="9525"/>
            </a:xfrm>
            <a:custGeom>
              <a:avLst/>
              <a:gdLst/>
              <a:ahLst/>
              <a:cxnLst/>
              <a:rect l="l" t="t" r="r" b="b"/>
              <a:pathLst>
                <a:path w="1581150" h="9525">
                  <a:moveTo>
                    <a:pt x="0" y="0"/>
                  </a:moveTo>
                  <a:lnTo>
                    <a:pt x="15811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439025" y="31718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48925" y="31718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553575" y="31908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9601200" y="3238500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391650" y="37052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391650" y="38576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601200" y="3857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353550" y="43243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429750" y="44291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05950" y="45339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88680" y="279082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74580" y="3695700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429500" y="4625975"/>
              <a:ext cx="1171575" cy="31750"/>
            </a:xfrm>
            <a:custGeom>
              <a:avLst/>
              <a:gdLst/>
              <a:ahLst/>
              <a:cxnLst/>
              <a:rect l="l" t="t" r="r" b="b"/>
              <a:pathLst>
                <a:path w="1171575" h="31750">
                  <a:moveTo>
                    <a:pt x="0" y="31750"/>
                  </a:moveTo>
                  <a:cubicBezTo>
                    <a:pt x="387350" y="0"/>
                    <a:pt x="777875" y="0"/>
                    <a:pt x="1171575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36" name="sketch-caption"/>
          <p:cNvGrpSpPr/>
          <p:nvPr/>
        </p:nvGrpSpPr>
        <p:grpSpPr>
          <a:xfrm>
            <a:off x="7118604" y="5181600"/>
            <a:ext cx="1516532" cy="234696"/>
            <a:chOff x="7118604" y="5181600"/>
            <a:chExt cx="151653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7118604" y="5181600"/>
              <a:ext cx="1516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RC低通 · 课堂示意图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504" y="6191250"/>
            <a:ext cx="10984992" cy="348996"/>
            <a:chOff x="603504" y="6191250"/>
            <a:chExt cx="10984992" cy="348996"/>
          </a:xfrm>
        </p:grpSpPr>
        <p:sp>
          <p:nvSpPr>
            <p:cNvPr id="37" name="Line 3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3504" y="6305550"/>
              <a:ext cx="182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电子基础微课 / 约10分钟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920234" cy="991489"/>
            <a:chOff x="592836" y="571500"/>
            <a:chExt cx="4920234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工程流程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每一步都要回答一个问题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2343150" y="2647950"/>
            <a:ext cx="533400" cy="2286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552950" y="2647950"/>
            <a:ext cx="533400" cy="2286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6762750" y="2647950"/>
            <a:ext cx="533400" cy="2286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972550" y="2647950"/>
            <a:ext cx="533400" cy="2286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requirements"/>
          <p:cNvGrpSpPr/>
          <p:nvPr/>
        </p:nvGrpSpPr>
        <p:grpSpPr>
          <a:xfrm>
            <a:off x="595884" y="2168525"/>
            <a:ext cx="1354836" cy="1839595"/>
            <a:chOff x="595884" y="2168525"/>
            <a:chExt cx="1354836" cy="1839595"/>
          </a:xfrm>
        </p:grpSpPr>
        <p:sp>
          <p:nvSpPr>
            <p:cNvPr id="9" name="TextBox 9"/>
            <p:cNvSpPr txBox="1"/>
            <p:nvPr/>
          </p:nvSpPr>
          <p:spPr>
            <a:xfrm>
              <a:off x="595884" y="2168525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932" y="290830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3409950"/>
              <a:ext cx="134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保留什么信号？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容许多少衰减？</a:t>
              </a:r>
            </a:p>
          </p:txBody>
        </p:sp>
      </p:grpSp>
      <p:grpSp>
        <p:nvGrpSpPr>
          <p:cNvPr id="16" name="simulation"/>
          <p:cNvGrpSpPr/>
          <p:nvPr/>
        </p:nvGrpSpPr>
        <p:grpSpPr>
          <a:xfrm>
            <a:off x="2881884" y="2168525"/>
            <a:ext cx="1164336" cy="1839595"/>
            <a:chOff x="2881884" y="2168525"/>
            <a:chExt cx="1164336" cy="1839595"/>
          </a:xfrm>
        </p:grpSpPr>
        <p:sp>
          <p:nvSpPr>
            <p:cNvPr id="13" name="TextBox 13"/>
            <p:cNvSpPr txBox="1"/>
            <p:nvPr/>
          </p:nvSpPr>
          <p:spPr>
            <a:xfrm>
              <a:off x="2881884" y="2168525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84932" y="290830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仿真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87980" y="3409950"/>
              <a:ext cx="1158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电路的表现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符合目标吗？</a:t>
              </a:r>
            </a:p>
          </p:txBody>
        </p:sp>
      </p:grpSp>
      <p:grpSp>
        <p:nvGrpSpPr>
          <p:cNvPr id="20" name="schematic"/>
          <p:cNvGrpSpPr/>
          <p:nvPr/>
        </p:nvGrpSpPr>
        <p:grpSpPr>
          <a:xfrm>
            <a:off x="5091684" y="2168525"/>
            <a:ext cx="1354836" cy="1839595"/>
            <a:chOff x="5091684" y="2168525"/>
            <a:chExt cx="1354836" cy="1839595"/>
          </a:xfrm>
        </p:grpSpPr>
        <p:sp>
          <p:nvSpPr>
            <p:cNvPr id="17" name="TextBox 17"/>
            <p:cNvSpPr txBox="1"/>
            <p:nvPr/>
          </p:nvSpPr>
          <p:spPr>
            <a:xfrm>
              <a:off x="5091684" y="2168525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94732" y="290830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原理图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97780" y="3409950"/>
              <a:ext cx="134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连接什么网络？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对应什么封装？</a:t>
              </a:r>
            </a:p>
          </p:txBody>
        </p:sp>
      </p:grpSp>
      <p:grpSp>
        <p:nvGrpSpPr>
          <p:cNvPr id="24" name="pcb"/>
          <p:cNvGrpSpPr/>
          <p:nvPr/>
        </p:nvGrpSpPr>
        <p:grpSpPr>
          <a:xfrm>
            <a:off x="7301484" y="2168525"/>
            <a:ext cx="1354836" cy="1839595"/>
            <a:chOff x="7301484" y="2168525"/>
            <a:chExt cx="1354836" cy="1839595"/>
          </a:xfrm>
        </p:grpSpPr>
        <p:sp>
          <p:nvSpPr>
            <p:cNvPr id="21" name="TextBox 21"/>
            <p:cNvSpPr txBox="1"/>
            <p:nvPr/>
          </p:nvSpPr>
          <p:spPr>
            <a:xfrm>
              <a:off x="7301484" y="2168525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04532" y="2908300"/>
              <a:ext cx="5388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07580" y="3409950"/>
              <a:ext cx="134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器件放在哪里？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走线如何连接？</a:t>
              </a:r>
            </a:p>
          </p:txBody>
        </p:sp>
      </p:grpSp>
      <p:grpSp>
        <p:nvGrpSpPr>
          <p:cNvPr id="28" name="release"/>
          <p:cNvGrpSpPr/>
          <p:nvPr/>
        </p:nvGrpSpPr>
        <p:grpSpPr>
          <a:xfrm>
            <a:off x="9511284" y="2168525"/>
            <a:ext cx="1437894" cy="1839595"/>
            <a:chOff x="9511284" y="2168525"/>
            <a:chExt cx="1437894" cy="1839595"/>
          </a:xfrm>
        </p:grpSpPr>
        <p:sp>
          <p:nvSpPr>
            <p:cNvPr id="25" name="TextBox 25"/>
            <p:cNvSpPr txBox="1"/>
            <p:nvPr/>
          </p:nvSpPr>
          <p:spPr>
            <a:xfrm>
              <a:off x="9511284" y="2168525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14332" y="290830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检查与导出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17380" y="3409950"/>
              <a:ext cx="1158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规则与文件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都核对了吗？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97408" y="4857750"/>
            <a:ext cx="10984992" cy="729742"/>
            <a:chOff x="597408" y="4857750"/>
            <a:chExt cx="10984992" cy="729742"/>
          </a:xfrm>
        </p:grpSpPr>
        <p:sp>
          <p:nvSpPr>
            <p:cNvPr id="29" name="Line 29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7408" y="5118100"/>
              <a:ext cx="60801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仿真验证</a:t>
              </a: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电气行为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，PCB落实</a:t>
              </a: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连接与制造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32" name="Line 32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571500"/>
            <a:ext cx="5808726" cy="1394968"/>
            <a:chOff x="592836" y="571500"/>
            <a:chExt cx="5808726" cy="1394968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软件界面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先认识专业版的五个操作区域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15557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先找图页，再放器件；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选中对象</a:t>
              </a: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后修改属性。</a:t>
              </a:r>
            </a:p>
          </p:txBody>
        </p:sp>
      </p:grpSp>
      <p:grpSp>
        <p:nvGrpSpPr>
          <p:cNvPr id="60" name="workspace-map"/>
          <p:cNvGrpSpPr/>
          <p:nvPr/>
        </p:nvGrpSpPr>
        <p:grpSpPr>
          <a:xfrm>
            <a:off x="609600" y="2171700"/>
            <a:ext cx="6400800" cy="3295650"/>
            <a:chOff x="609600" y="2171700"/>
            <a:chExt cx="6400800" cy="3295650"/>
          </a:xfrm>
        </p:grpSpPr>
        <p:sp>
          <p:nvSpPr>
            <p:cNvPr id="6" name="Rectangle 6"/>
            <p:cNvSpPr/>
            <p:nvPr/>
          </p:nvSpPr>
          <p:spPr>
            <a:xfrm>
              <a:off x="609600" y="2171700"/>
              <a:ext cx="6400800" cy="32956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64008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76275" y="227647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5524" y="2305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8230" y="2317750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顶部菜单 / 工具栏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8180" y="23177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放置　设计　导出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2686050"/>
              <a:ext cx="1333500" cy="21145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76275" y="27813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5524" y="2809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8705" y="2822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3190875"/>
              <a:ext cx="932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RC_Filter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28675" y="3495675"/>
              <a:ext cx="9525" cy="981075"/>
            </a:xfrm>
            <a:custGeom>
              <a:avLst/>
              <a:gdLst/>
              <a:ahLst/>
              <a:cxnLst/>
              <a:rect l="l" t="t" r="r" b="b"/>
              <a:pathLst>
                <a:path w="9525" h="981075">
                  <a:moveTo>
                    <a:pt x="0" y="0"/>
                  </a:moveTo>
                  <a:lnTo>
                    <a:pt x="0" y="98107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28675" y="3733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28675" y="40767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28675" y="44196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3930" y="36226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仿真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3930" y="39655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原理图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3930" y="42957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53100" y="2686050"/>
              <a:ext cx="1257300" cy="2114550"/>
            </a:xfrm>
            <a:prstGeom prst="rect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829300" y="27813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8549" y="2809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12205" y="2822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78830" y="3327400"/>
              <a:ext cx="855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位号　R1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78830" y="3698875"/>
              <a:ext cx="824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值　1 kΩ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78830" y="40703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78830" y="43529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0603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943100" y="26860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753100" y="26860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2181225" y="28003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270474" y="28289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83180" y="284162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画布 / 当前图页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64080" y="3438525"/>
              <a:ext cx="313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83480" y="343852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VOUT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26130" y="343852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2352675" y="3838575"/>
              <a:ext cx="866775" cy="9525"/>
            </a:xfrm>
            <a:custGeom>
              <a:avLst/>
              <a:gdLst/>
              <a:ahLst/>
              <a:cxnLst/>
              <a:rect l="l" t="t" r="r" b="b"/>
              <a:pathLst>
                <a:path w="866775" h="952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219450" y="3705225"/>
              <a:ext cx="609600" cy="2667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829050" y="3838575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524375" y="3838575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333875" y="41433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333875" y="4238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4524375" y="423862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4333875" y="44958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391025" y="45624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448175" y="46291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92980" y="40767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2314575" y="3800475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486275" y="38004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257800" y="38004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9600" y="4800600"/>
              <a:ext cx="6400800" cy="666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609600" y="4800600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76275" y="498157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5524" y="50101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8230" y="50228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元件库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487930" y="50228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搜索器件　查看封装　放置</a:t>
              </a:r>
            </a:p>
          </p:txBody>
        </p:sp>
      </p:grpSp>
      <p:grpSp>
        <p:nvGrpSpPr>
          <p:cNvPr id="64" name="page-tree-guide"/>
          <p:cNvGrpSpPr/>
          <p:nvPr/>
        </p:nvGrpSpPr>
        <p:grpSpPr>
          <a:xfrm>
            <a:off x="7456932" y="2108200"/>
            <a:ext cx="3799332" cy="683895"/>
            <a:chOff x="7456932" y="2108200"/>
            <a:chExt cx="3799332" cy="683895"/>
          </a:xfrm>
        </p:grpSpPr>
        <p:sp>
          <p:nvSpPr>
            <p:cNvPr id="61" name="TextBox 61"/>
            <p:cNvSpPr txBox="1"/>
            <p:nvPr/>
          </p:nvSpPr>
          <p:spPr>
            <a:xfrm>
              <a:off x="7456932" y="210820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56982" y="210820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图页树｜选择文件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60030" y="2498725"/>
              <a:ext cx="3396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双击图页，切换仿真、原理图与PCB。</a:t>
              </a:r>
            </a:p>
          </p:txBody>
        </p:sp>
      </p:grpSp>
      <p:grpSp>
        <p:nvGrpSpPr>
          <p:cNvPr id="68" name="menu-guide"/>
          <p:cNvGrpSpPr/>
          <p:nvPr/>
        </p:nvGrpSpPr>
        <p:grpSpPr>
          <a:xfrm>
            <a:off x="7456932" y="2813050"/>
            <a:ext cx="3649218" cy="683895"/>
            <a:chOff x="7456932" y="2813050"/>
            <a:chExt cx="3649218" cy="683895"/>
          </a:xfrm>
        </p:grpSpPr>
        <p:sp>
          <p:nvSpPr>
            <p:cNvPr id="65" name="TextBox 65"/>
            <p:cNvSpPr txBox="1"/>
            <p:nvPr/>
          </p:nvSpPr>
          <p:spPr>
            <a:xfrm>
              <a:off x="7456932" y="281305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56982" y="28130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菜单｜执行命令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60030" y="32035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按当前图页执行放置、设计与导出。</a:t>
              </a:r>
            </a:p>
          </p:txBody>
        </p:sp>
      </p:grpSp>
      <p:grpSp>
        <p:nvGrpSpPr>
          <p:cNvPr id="72" name="canvas-guide"/>
          <p:cNvGrpSpPr/>
          <p:nvPr/>
        </p:nvGrpSpPr>
        <p:grpSpPr>
          <a:xfrm>
            <a:off x="7456932" y="3517900"/>
            <a:ext cx="3447288" cy="683895"/>
            <a:chOff x="7456932" y="3517900"/>
            <a:chExt cx="3447288" cy="683895"/>
          </a:xfrm>
        </p:grpSpPr>
        <p:sp>
          <p:nvSpPr>
            <p:cNvPr id="69" name="TextBox 69"/>
            <p:cNvSpPr txBox="1"/>
            <p:nvPr/>
          </p:nvSpPr>
          <p:spPr>
            <a:xfrm>
              <a:off x="7456932" y="351790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56982" y="35179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画布｜编辑连接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60030" y="39084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在当前图页放置元件、连接电路。</a:t>
              </a:r>
            </a:p>
          </p:txBody>
        </p:sp>
      </p:grpSp>
      <p:grpSp>
        <p:nvGrpSpPr>
          <p:cNvPr id="76" name="property-guide"/>
          <p:cNvGrpSpPr/>
          <p:nvPr/>
        </p:nvGrpSpPr>
        <p:grpSpPr>
          <a:xfrm>
            <a:off x="7456932" y="4222750"/>
            <a:ext cx="3649218" cy="683895"/>
            <a:chOff x="7456932" y="4222750"/>
            <a:chExt cx="3649218" cy="683895"/>
          </a:xfrm>
        </p:grpSpPr>
        <p:sp>
          <p:nvSpPr>
            <p:cNvPr id="73" name="TextBox 73"/>
            <p:cNvSpPr txBox="1"/>
            <p:nvPr/>
          </p:nvSpPr>
          <p:spPr>
            <a:xfrm>
              <a:off x="7456932" y="422275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56982" y="42227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属性｜核对参数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60030" y="46132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先选中器件，再改位号、值及封装。</a:t>
              </a:r>
            </a:p>
          </p:txBody>
        </p:sp>
      </p:grpSp>
      <p:grpSp>
        <p:nvGrpSpPr>
          <p:cNvPr id="80" name="library-guide"/>
          <p:cNvGrpSpPr/>
          <p:nvPr/>
        </p:nvGrpSpPr>
        <p:grpSpPr>
          <a:xfrm>
            <a:off x="7456932" y="4927600"/>
            <a:ext cx="3265551" cy="683895"/>
            <a:chOff x="7456932" y="4927600"/>
            <a:chExt cx="3265551" cy="683895"/>
          </a:xfrm>
        </p:grpSpPr>
        <p:sp>
          <p:nvSpPr>
            <p:cNvPr id="77" name="TextBox 77"/>
            <p:cNvSpPr txBox="1"/>
            <p:nvPr/>
          </p:nvSpPr>
          <p:spPr>
            <a:xfrm>
              <a:off x="7456932" y="492760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56982" y="49276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元件库｜搜索与放置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60030" y="5318125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搜索器件，双击或点击“放置”。</a:t>
              </a:r>
            </a:p>
          </p:txBody>
        </p:sp>
      </p:grpSp>
      <p:grpSp>
        <p:nvGrpSpPr>
          <p:cNvPr id="82" name="diagram-qualification"/>
          <p:cNvGrpSpPr/>
          <p:nvPr/>
        </p:nvGrpSpPr>
        <p:grpSpPr>
          <a:xfrm>
            <a:off x="603504" y="5676900"/>
            <a:ext cx="4050792" cy="234696"/>
            <a:chOff x="603504" y="5676900"/>
            <a:chExt cx="4050792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603504" y="567690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界面区域示意，非软件截图；面板位置随界面布局变化。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603504" y="6191250"/>
            <a:ext cx="10984992" cy="348996"/>
            <a:chOff x="603504" y="6191250"/>
            <a:chExt cx="10984992" cy="348996"/>
          </a:xfrm>
        </p:grpSpPr>
        <p:sp>
          <p:nvSpPr>
            <p:cNvPr id="83" name="Line 83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3504" y="6305550"/>
              <a:ext cx="6545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资料：嘉立创EDA专业版用户指南 / 使用界面、图页、属性、元件库（prodocs.lceda.cn）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6350874" cy="991489"/>
            <a:chOff x="592836" y="571500"/>
            <a:chExt cx="6350874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工程起步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63508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新建工程后，分两步完成RC案例</a:t>
              </a:r>
            </a:p>
          </p:txBody>
        </p:sp>
      </p:grpSp>
      <p:grpSp>
        <p:nvGrpSpPr>
          <p:cNvPr id="8" name="create-project"/>
          <p:cNvGrpSpPr/>
          <p:nvPr/>
        </p:nvGrpSpPr>
        <p:grpSpPr>
          <a:xfrm>
            <a:off x="609600" y="1905000"/>
            <a:ext cx="10972800" cy="857250"/>
            <a:chOff x="609600" y="1905000"/>
            <a:chExt cx="10972800" cy="857250"/>
          </a:xfrm>
        </p:grpSpPr>
        <p:sp>
          <p:nvSpPr>
            <p:cNvPr id="5" name="Rectangle 5"/>
            <p:cNvSpPr/>
            <p:nvPr/>
          </p:nvSpPr>
          <p:spPr>
            <a:xfrm>
              <a:off x="609600" y="1905000"/>
              <a:ext cx="10972800" cy="857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7532" y="1993900"/>
              <a:ext cx="45973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开始页 → 创建工程 → 命名RC_Filter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0580" y="2422525"/>
              <a:ext cx="7838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默认创建板子、原理图与PCB；本课另建仿真图页，参数和网络与工程原理图逐项核对。</a:t>
              </a:r>
            </a:p>
          </p:txBody>
        </p:sp>
      </p:grpSp>
      <p:grpSp>
        <p:nvGrpSpPr>
          <p:cNvPr id="19" name="simulation-lane"/>
          <p:cNvGrpSpPr/>
          <p:nvPr/>
        </p:nvGrpSpPr>
        <p:grpSpPr>
          <a:xfrm>
            <a:off x="597408" y="2917825"/>
            <a:ext cx="4115676" cy="2579370"/>
            <a:chOff x="597408" y="2917825"/>
            <a:chExt cx="4115676" cy="2579370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2917825"/>
              <a:ext cx="34524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　仿真：验证电气行为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932" y="348932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9932" y="3489325"/>
              <a:ext cx="25963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新建仿真 → NGSpice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38893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工程树右键；首次按提示安装引擎。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414655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9932" y="4146550"/>
              <a:ext cx="31454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连接R、C、信号源与GND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980" y="4546600"/>
              <a:ext cx="3404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 R=1 kΩ，C=100 nF；核对接地。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48037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9932" y="4803775"/>
              <a:ext cx="30473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放探针 → AC分析 → 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2980" y="5203825"/>
              <a:ext cx="3730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VIN/VOUT；10 Hz–100 kHz；比较波形。</a:t>
              </a:r>
            </a:p>
          </p:txBody>
        </p:sp>
      </p:grpSp>
      <p:grpSp>
        <p:nvGrpSpPr>
          <p:cNvPr id="30" name="schematic-lane"/>
          <p:cNvGrpSpPr/>
          <p:nvPr/>
        </p:nvGrpSpPr>
        <p:grpSpPr>
          <a:xfrm>
            <a:off x="6445758" y="2917825"/>
            <a:ext cx="4078986" cy="2579370"/>
            <a:chOff x="6445758" y="2917825"/>
            <a:chExt cx="4078986" cy="2579370"/>
          </a:xfrm>
        </p:grpSpPr>
        <p:sp>
          <p:nvSpPr>
            <p:cNvPr id="20" name="TextBox 20"/>
            <p:cNvSpPr txBox="1"/>
            <p:nvPr/>
          </p:nvSpPr>
          <p:spPr>
            <a:xfrm>
              <a:off x="6445758" y="2917825"/>
              <a:ext cx="37754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　原理图：准备制造设计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47282" y="348932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28282" y="348932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打开原理图，搜索并放置器件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31330" y="3889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底部元件库；右侧核对值与封装。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7282" y="414655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28282" y="4146550"/>
              <a:ext cx="2965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放置 → 导线 / 网络标签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31330" y="4546600"/>
              <a:ext cx="3197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命名VIN、VOUT与GND，核对引脚。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47282" y="48037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28282" y="4803775"/>
              <a:ext cx="25764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 → 原理图转PCB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31330" y="52038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同一板子；核对变更后应用修改。</a:t>
              </a:r>
            </a:p>
          </p:txBody>
        </p:sp>
      </p:grpSp>
      <p:grpSp>
        <p:nvGrpSpPr>
          <p:cNvPr id="32" name="lane-separator"/>
          <p:cNvGrpSpPr/>
          <p:nvPr/>
        </p:nvGrpSpPr>
        <p:grpSpPr>
          <a:xfrm>
            <a:off x="6096000" y="3048000"/>
            <a:ext cx="9525" cy="2495550"/>
            <a:chOff x="6096000" y="3048000"/>
            <a:chExt cx="9525" cy="2495550"/>
          </a:xfrm>
        </p:grpSpPr>
        <p:sp>
          <p:nvSpPr>
            <p:cNvPr id="31" name="Line 31"/>
            <p:cNvSpPr/>
            <p:nvPr/>
          </p:nvSpPr>
          <p:spPr>
            <a:xfrm>
              <a:off x="6096000" y="304800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34" name="handoff-check"/>
          <p:cNvGrpSpPr/>
          <p:nvPr/>
        </p:nvGrpSpPr>
        <p:grpSpPr>
          <a:xfrm>
            <a:off x="598932" y="5641975"/>
            <a:ext cx="6513241" cy="410718"/>
            <a:chOff x="598932" y="5641975"/>
            <a:chExt cx="6513241" cy="410718"/>
          </a:xfrm>
        </p:grpSpPr>
        <p:sp>
          <p:nvSpPr>
            <p:cNvPr id="33" name="TextBox 33"/>
            <p:cNvSpPr txBox="1"/>
            <p:nvPr/>
          </p:nvSpPr>
          <p:spPr>
            <a:xfrm>
              <a:off x="598932" y="5641975"/>
              <a:ext cx="65132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进入PCB前：两类图页的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R、C参数与网络</a:t>
              </a: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必须一致。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3504" y="6191250"/>
            <a:ext cx="10984992" cy="348996"/>
            <a:chOff x="603504" y="6191250"/>
            <a:chExt cx="10984992" cy="348996"/>
          </a:xfrm>
        </p:grpSpPr>
        <p:sp>
          <p:nvSpPr>
            <p:cNvPr id="35" name="Line 3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3504" y="6305550"/>
              <a:ext cx="6135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按官方创建工程、仿真与转PCB指南整理；RC参数为课堂示例，菜单以实际版本为准。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573890" cy="991489"/>
            <a:chOff x="592836" y="571500"/>
            <a:chExt cx="4573890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案例电路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57389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先认识这个RC低通电路</a:t>
              </a:r>
            </a:p>
          </p:txBody>
        </p:sp>
      </p:grpSp>
      <p:grpSp>
        <p:nvGrpSpPr>
          <p:cNvPr id="25" name="rc-schematic"/>
          <p:cNvGrpSpPr/>
          <p:nvPr/>
        </p:nvGrpSpPr>
        <p:grpSpPr>
          <a:xfrm>
            <a:off x="609600" y="2038350"/>
            <a:ext cx="6324600" cy="3276600"/>
            <a:chOff x="609600" y="2038350"/>
            <a:chExt cx="6324600" cy="3276600"/>
          </a:xfrm>
        </p:grpSpPr>
        <p:sp>
          <p:nvSpPr>
            <p:cNvPr id="5" name="Rectangle 5"/>
            <p:cNvSpPr/>
            <p:nvPr/>
          </p:nvSpPr>
          <p:spPr>
            <a:xfrm>
              <a:off x="609600" y="2038350"/>
              <a:ext cx="6324600" cy="3276600"/>
            </a:xfrm>
            <a:prstGeom prst="roundRect">
              <a:avLst>
                <a:gd name="adj" fmla="val 1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27354" y="226695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情景参数 / 理想模型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380" y="2714625"/>
              <a:ext cx="313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26430" y="271462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VOUT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66825" y="333375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200150" y="3267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638425" y="3171825"/>
              <a:ext cx="876300" cy="3238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73680" y="2752725"/>
              <a:ext cx="780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 = 1 kΩ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514725" y="3333750"/>
              <a:ext cx="2543175" cy="9525"/>
            </a:xfrm>
            <a:custGeom>
              <a:avLst/>
              <a:gdLst/>
              <a:ahLst/>
              <a:cxnLst/>
              <a:rect l="l" t="t" r="r" b="b"/>
              <a:pathLst>
                <a:path w="2543175" h="9525">
                  <a:moveTo>
                    <a:pt x="0" y="0"/>
                  </a:moveTo>
                  <a:lnTo>
                    <a:pt x="254317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991225" y="32670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48200" y="32861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695825" y="33337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429125" y="39624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429125" y="41243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0" y="3933825"/>
              <a:ext cx="1010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 = 100 nF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695825" y="412432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429125" y="4629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514850" y="473392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591050" y="48387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31130" y="4651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输出跨接电容</a:t>
              </a:r>
            </a:p>
          </p:txBody>
        </p:sp>
      </p:grpSp>
      <p:grpSp>
        <p:nvGrpSpPr>
          <p:cNvPr id="27" name="filter-behavior"/>
          <p:cNvGrpSpPr/>
          <p:nvPr/>
        </p:nvGrpSpPr>
        <p:grpSpPr>
          <a:xfrm>
            <a:off x="7455408" y="2070100"/>
            <a:ext cx="2932176" cy="469392"/>
            <a:chOff x="7455408" y="2070100"/>
            <a:chExt cx="2932176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7455408" y="20701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保留低频，减弱高频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toff-equation"/>
              <p:cNvSpPr txBox="1">
                <a:spLocks noGrp="1"/>
              </p:cNvSpPr>
              <p:nvPr/>
            </p:nvSpPr>
            <p:spPr>
              <a:xfrm>
                <a:off x="7467600" y="2743200"/>
                <a:ext cx="3905250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zh-CN" sz="24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24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16395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24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24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24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2πRC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2" name="parameter-results"/>
          <p:cNvGrpSpPr/>
          <p:nvPr/>
        </p:nvGrpSpPr>
        <p:grpSpPr>
          <a:xfrm>
            <a:off x="7453884" y="3978275"/>
            <a:ext cx="2444496" cy="1280795"/>
            <a:chOff x="7453884" y="3978275"/>
            <a:chExt cx="2444496" cy="1280795"/>
          </a:xfrm>
        </p:grpSpPr>
        <p:sp>
          <p:nvSpPr>
            <p:cNvPr id="29" name="TextBox 29"/>
            <p:cNvSpPr txBox="1"/>
            <p:nvPr/>
          </p:nvSpPr>
          <p:spPr>
            <a:xfrm>
              <a:off x="7453884" y="3978275"/>
              <a:ext cx="206425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≈ 1.59 kHz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6932" y="4546600"/>
              <a:ext cx="20450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τ = RC = 100 μs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0" y="49657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示例参数计算，无实测数据</a:t>
              </a:r>
            </a:p>
          </p:txBody>
        </p:sp>
      </p:grpSp>
      <p:grpSp>
        <p:nvGrpSpPr>
          <p:cNvPr id="34" name="context"/>
          <p:cNvGrpSpPr/>
          <p:nvPr/>
        </p:nvGrpSpPr>
        <p:grpSpPr>
          <a:xfrm>
            <a:off x="601980" y="5613400"/>
            <a:ext cx="6275070" cy="293370"/>
            <a:chOff x="601980" y="5613400"/>
            <a:chExt cx="6275070" cy="293370"/>
          </a:xfrm>
        </p:grpSpPr>
        <p:sp>
          <p:nvSpPr>
            <p:cNvPr id="33" name="TextBox 33"/>
            <p:cNvSpPr txBox="1"/>
            <p:nvPr/>
          </p:nvSpPr>
          <p:spPr>
            <a:xfrm>
              <a:off x="601980" y="561340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应用：传感器信号滤波。实际设计还要评估源阻抗、负载和元件容差。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35" name="Line 3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3587496" cy="991489"/>
            <a:chOff x="592836" y="571500"/>
            <a:chExt cx="3587496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仿真设置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在专业版建立仿真</a:t>
              </a:r>
            </a:p>
          </p:txBody>
        </p:sp>
      </p:grpSp>
      <p:grpSp>
        <p:nvGrpSpPr>
          <p:cNvPr id="7" name="create-simulation"/>
          <p:cNvGrpSpPr/>
          <p:nvPr/>
        </p:nvGrpSpPr>
        <p:grpSpPr>
          <a:xfrm>
            <a:off x="598932" y="2070100"/>
            <a:ext cx="3067431" cy="712470"/>
            <a:chOff x="598932" y="2070100"/>
            <a:chExt cx="3067431" cy="71247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2070100"/>
              <a:ext cx="30643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新建NGSpice仿真图页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2489200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工程树中右键，选择“新建仿真”。</a:t>
              </a:r>
            </a:p>
          </p:txBody>
        </p:sp>
      </p:grpSp>
      <p:grpSp>
        <p:nvGrpSpPr>
          <p:cNvPr id="10" name="engine-screenshot"/>
          <p:cNvGrpSpPr/>
          <p:nvPr/>
        </p:nvGrpSpPr>
        <p:grpSpPr>
          <a:xfrm>
            <a:off x="603504" y="2905125"/>
            <a:ext cx="4587621" cy="2654046"/>
            <a:chOff x="603504" y="2905125"/>
            <a:chExt cx="4587621" cy="2654046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905125"/>
              <a:ext cx="4581525" cy="22669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3504" y="5324475"/>
              <a:ext cx="3064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官方入口截图 / 嘉立创EDA专业版用户指南</a:t>
              </a:r>
            </a:p>
          </p:txBody>
        </p:sp>
      </p:grpSp>
      <p:grpSp>
        <p:nvGrpSpPr>
          <p:cNvPr id="13" name="model-and-source"/>
          <p:cNvGrpSpPr/>
          <p:nvPr/>
        </p:nvGrpSpPr>
        <p:grpSpPr>
          <a:xfrm>
            <a:off x="5942457" y="2070100"/>
            <a:ext cx="3190113" cy="1071245"/>
            <a:chOff x="5942457" y="2070100"/>
            <a:chExt cx="3190113" cy="1071245"/>
          </a:xfrm>
        </p:grpSpPr>
        <p:sp>
          <p:nvSpPr>
            <p:cNvPr id="11" name="TextBox 11"/>
            <p:cNvSpPr txBox="1"/>
            <p:nvPr/>
          </p:nvSpPr>
          <p:spPr>
            <a:xfrm>
              <a:off x="5942457" y="2070100"/>
              <a:ext cx="31006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连接电路，设置信号源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5505" y="2543175"/>
              <a:ext cx="31870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R、C、地与交流源连接正确；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设置交流小信号幅值，例如AC = 1 V。</a:t>
              </a:r>
            </a:p>
          </p:txBody>
        </p:sp>
      </p:grpSp>
      <p:grpSp>
        <p:nvGrpSpPr>
          <p:cNvPr id="16" name="probes"/>
          <p:cNvGrpSpPr/>
          <p:nvPr/>
        </p:nvGrpSpPr>
        <p:grpSpPr>
          <a:xfrm>
            <a:off x="5942457" y="3517900"/>
            <a:ext cx="3050286" cy="817245"/>
            <a:chOff x="5942457" y="3517900"/>
            <a:chExt cx="3050286" cy="817245"/>
          </a:xfrm>
        </p:grpSpPr>
        <p:sp>
          <p:nvSpPr>
            <p:cNvPr id="14" name="TextBox 14"/>
            <p:cNvSpPr txBox="1"/>
            <p:nvPr/>
          </p:nvSpPr>
          <p:spPr>
            <a:xfrm>
              <a:off x="5942457" y="3517900"/>
              <a:ext cx="28179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放置输入、输出探针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45505" y="4041775"/>
              <a:ext cx="3047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观察VIN与VOUT，比较两者幅度。</a:t>
              </a:r>
            </a:p>
          </p:txBody>
        </p:sp>
      </p:grpSp>
      <p:grpSp>
        <p:nvGrpSpPr>
          <p:cNvPr id="19" name="ac-sweep"/>
          <p:cNvGrpSpPr/>
          <p:nvPr/>
        </p:nvGrpSpPr>
        <p:grpSpPr>
          <a:xfrm>
            <a:off x="5942457" y="4708525"/>
            <a:ext cx="3075628" cy="817245"/>
            <a:chOff x="5942457" y="4708525"/>
            <a:chExt cx="3075628" cy="817245"/>
          </a:xfrm>
        </p:grpSpPr>
        <p:sp>
          <p:nvSpPr>
            <p:cNvPr id="17" name="TextBox 17"/>
            <p:cNvSpPr txBox="1"/>
            <p:nvPr/>
          </p:nvSpPr>
          <p:spPr>
            <a:xfrm>
              <a:off x="5942457" y="4708525"/>
              <a:ext cx="2597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选择AC分析并运行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45505" y="5232400"/>
              <a:ext cx="3072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 Hz–100 kHz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，建议对数扫频。</a:t>
              </a:r>
            </a:p>
          </p:txBody>
        </p:sp>
      </p:grpSp>
      <p:grpSp>
        <p:nvGrpSpPr>
          <p:cNvPr id="21" name="setup-note"/>
          <p:cNvGrpSpPr/>
          <p:nvPr/>
        </p:nvGrpSpPr>
        <p:grpSpPr>
          <a:xfrm>
            <a:off x="603504" y="5762625"/>
            <a:ext cx="6615665" cy="234696"/>
            <a:chOff x="603504" y="5762625"/>
            <a:chExt cx="6615665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5762625"/>
              <a:ext cx="6615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首次使用需安装仿真引擎；参数为教学示例。软件同时提供Simulide，菜单以当前版本为准。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22" name="Line 22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475988" cy="991489"/>
            <a:chOff x="592836" y="571500"/>
            <a:chExt cx="4475988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结果解读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频响曲线告诉我们什么</a:t>
              </a:r>
            </a:p>
          </p:txBody>
        </p:sp>
      </p:grpSp>
      <p:grpSp>
        <p:nvGrpSpPr>
          <p:cNvPr id="34" name="response-module"/>
          <p:cNvGrpSpPr/>
          <p:nvPr/>
        </p:nvGrpSpPr>
        <p:grpSpPr>
          <a:xfrm>
            <a:off x="792480" y="2041525"/>
            <a:ext cx="7110222" cy="3738245"/>
            <a:chOff x="792480" y="2041525"/>
            <a:chExt cx="7110222" cy="3738245"/>
          </a:xfrm>
        </p:grpSpPr>
        <p:grpSp>
          <p:nvGrpSpPr>
            <p:cNvPr id="30" name="rc-response-chartArea"/>
            <p:cNvGrpSpPr/>
            <p:nvPr/>
          </p:nvGrpSpPr>
          <p:grpSpPr>
            <a:xfrm>
              <a:off x="792480" y="2041525"/>
              <a:ext cx="7110222" cy="3738245"/>
              <a:chOff x="792480" y="2041525"/>
              <a:chExt cx="7110222" cy="3738245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792480" y="2041525"/>
                <a:ext cx="8863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增益 / dB</a:t>
                </a:r>
              </a:p>
            </p:txBody>
          </p:sp>
          <p:grpSp>
            <p:nvGrpSpPr>
              <p:cNvPr id="15" name="grid"/>
              <p:cNvGrpSpPr/>
              <p:nvPr/>
            </p:nvGrpSpPr>
            <p:grpSpPr>
              <a:xfrm>
                <a:off x="1333500" y="2381250"/>
                <a:ext cx="6200775" cy="3057525"/>
                <a:chOff x="1333500" y="2381250"/>
                <a:chExt cx="6200775" cy="3057525"/>
              </a:xfrm>
            </p:grpSpPr>
            <p:sp>
              <p:nvSpPr>
                <p:cNvPr id="6" name="Line 6"/>
                <p:cNvSpPr/>
                <p:nvPr/>
              </p:nvSpPr>
              <p:spPr>
                <a:xfrm>
                  <a:off x="1333500" y="2381250"/>
                  <a:ext cx="6191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50" h="9525">
                      <a:moveTo>
                        <a:pt x="0" y="0"/>
                      </a:moveTo>
                      <a:lnTo>
                        <a:pt x="6191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1333500" y="3143250"/>
                  <a:ext cx="6191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50" h="9525">
                      <a:moveTo>
                        <a:pt x="0" y="0"/>
                      </a:moveTo>
                      <a:lnTo>
                        <a:pt x="6191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1333500" y="3905250"/>
                  <a:ext cx="6191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50" h="9525">
                      <a:moveTo>
                        <a:pt x="0" y="0"/>
                      </a:moveTo>
                      <a:lnTo>
                        <a:pt x="6191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9" name="Line 9"/>
                <p:cNvSpPr/>
                <p:nvPr/>
              </p:nvSpPr>
              <p:spPr>
                <a:xfrm>
                  <a:off x="1333500" y="4667250"/>
                  <a:ext cx="6191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50" h="9525">
                      <a:moveTo>
                        <a:pt x="0" y="0"/>
                      </a:moveTo>
                      <a:lnTo>
                        <a:pt x="6191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0" name="Line 10"/>
                <p:cNvSpPr/>
                <p:nvPr/>
              </p:nvSpPr>
              <p:spPr>
                <a:xfrm>
                  <a:off x="1333500" y="5429250"/>
                  <a:ext cx="6191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50" h="9525">
                      <a:moveTo>
                        <a:pt x="0" y="0"/>
                      </a:moveTo>
                      <a:lnTo>
                        <a:pt x="6191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2881312" y="2381250"/>
                  <a:ext cx="9525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0">
                      <a:moveTo>
                        <a:pt x="0" y="0"/>
                      </a:moveTo>
                      <a:lnTo>
                        <a:pt x="0" y="304800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2" name="Line 12"/>
                <p:cNvSpPr/>
                <p:nvPr/>
              </p:nvSpPr>
              <p:spPr>
                <a:xfrm>
                  <a:off x="4429125" y="2381250"/>
                  <a:ext cx="9525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0">
                      <a:moveTo>
                        <a:pt x="0" y="0"/>
                      </a:moveTo>
                      <a:lnTo>
                        <a:pt x="0" y="304800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3" name="Line 13"/>
                <p:cNvSpPr/>
                <p:nvPr/>
              </p:nvSpPr>
              <p:spPr>
                <a:xfrm>
                  <a:off x="5976938" y="2381250"/>
                  <a:ext cx="9525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0">
                      <a:moveTo>
                        <a:pt x="0" y="0"/>
                      </a:moveTo>
                      <a:lnTo>
                        <a:pt x="0" y="304800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7524750" y="2381250"/>
                  <a:ext cx="9525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0">
                      <a:moveTo>
                        <a:pt x="0" y="0"/>
                      </a:moveTo>
                      <a:lnTo>
                        <a:pt x="0" y="304800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</p:grpSp>
          <p:grpSp>
            <p:nvGrpSpPr>
              <p:cNvPr id="18" name="axis-lines"/>
              <p:cNvGrpSpPr/>
              <p:nvPr/>
            </p:nvGrpSpPr>
            <p:grpSpPr>
              <a:xfrm>
                <a:off x="1333500" y="2381250"/>
                <a:ext cx="6191250" cy="3057525"/>
                <a:chOff x="1333500" y="2381250"/>
                <a:chExt cx="6191250" cy="3057525"/>
              </a:xfrm>
            </p:grpSpPr>
            <p:sp>
              <p:nvSpPr>
                <p:cNvPr id="16" name="Line 16"/>
                <p:cNvSpPr/>
                <p:nvPr/>
              </p:nvSpPr>
              <p:spPr>
                <a:xfrm>
                  <a:off x="1333500" y="2381250"/>
                  <a:ext cx="9525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0">
                      <a:moveTo>
                        <a:pt x="0" y="0"/>
                      </a:moveTo>
                      <a:lnTo>
                        <a:pt x="0" y="3048000"/>
                      </a:lnTo>
                    </a:path>
                  </a:pathLst>
                </a:custGeom>
                <a:noFill/>
                <a:ln w="19050">
                  <a:solidFill>
                    <a:srgbClr val="627282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1333500" y="5429250"/>
                  <a:ext cx="6191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50" h="9525">
                      <a:moveTo>
                        <a:pt x="0" y="0"/>
                      </a:moveTo>
                      <a:lnTo>
                        <a:pt x="6191250" y="0"/>
                      </a:lnTo>
                    </a:path>
                  </a:pathLst>
                </a:custGeom>
                <a:noFill/>
                <a:ln w="19050">
                  <a:solidFill>
                    <a:srgbClr val="627282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062418" y="22574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0296" y="3019425"/>
                <a:ext cx="348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-10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40296" y="3781425"/>
                <a:ext cx="348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-20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0296" y="4543425"/>
                <a:ext cx="348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-30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0296" y="5305425"/>
                <a:ext cx="348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-40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66324" y="5486400"/>
                <a:ext cx="5343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 Hz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557034" y="5486400"/>
                <a:ext cx="6485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 Hz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164330" y="5486400"/>
                <a:ext cx="5295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kHz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655564" y="5486400"/>
                <a:ext cx="6427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 kHz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146798" y="5486400"/>
                <a:ext cx="7559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 kHz</a:t>
                </a:r>
              </a:p>
            </p:txBody>
          </p:sp>
          <p:sp>
            <p:nvSpPr>
              <p:cNvPr id="29" name="Polyline 29"/>
              <p:cNvSpPr/>
              <p:nvPr/>
            </p:nvSpPr>
            <p:spPr>
              <a:xfrm>
                <a:off x="1333500" y="2381250"/>
                <a:ext cx="6191250" cy="2740533"/>
              </a:xfrm>
              <a:custGeom>
                <a:avLst/>
                <a:gdLst/>
                <a:ahLst/>
                <a:cxnLst/>
                <a:rect l="l" t="t" r="r" b="b"/>
                <a:pathLst>
                  <a:path w="6191250" h="2740533">
                    <a:moveTo>
                      <a:pt x="0" y="0"/>
                    </a:moveTo>
                    <a:lnTo>
                      <a:pt x="154781" y="0"/>
                    </a:lnTo>
                    <a:lnTo>
                      <a:pt x="309562" y="0"/>
                    </a:lnTo>
                    <a:lnTo>
                      <a:pt x="464344" y="95"/>
                    </a:lnTo>
                    <a:lnTo>
                      <a:pt x="619125" y="95"/>
                    </a:lnTo>
                    <a:lnTo>
                      <a:pt x="773906" y="95"/>
                    </a:lnTo>
                    <a:lnTo>
                      <a:pt x="928688" y="191"/>
                    </a:lnTo>
                    <a:lnTo>
                      <a:pt x="1083469" y="286"/>
                    </a:lnTo>
                    <a:lnTo>
                      <a:pt x="1238250" y="476"/>
                    </a:lnTo>
                    <a:lnTo>
                      <a:pt x="1393031" y="857"/>
                    </a:lnTo>
                    <a:lnTo>
                      <a:pt x="1547812" y="1333"/>
                    </a:lnTo>
                    <a:lnTo>
                      <a:pt x="1702594" y="2095"/>
                    </a:lnTo>
                    <a:lnTo>
                      <a:pt x="1857375" y="3239"/>
                    </a:lnTo>
                    <a:lnTo>
                      <a:pt x="2012156" y="5143"/>
                    </a:lnTo>
                    <a:lnTo>
                      <a:pt x="2166938" y="8096"/>
                    </a:lnTo>
                    <a:lnTo>
                      <a:pt x="2321719" y="12859"/>
                    </a:lnTo>
                    <a:lnTo>
                      <a:pt x="2476500" y="20098"/>
                    </a:lnTo>
                    <a:lnTo>
                      <a:pt x="2631281" y="31337"/>
                    </a:lnTo>
                    <a:lnTo>
                      <a:pt x="2786062" y="48292"/>
                    </a:lnTo>
                    <a:lnTo>
                      <a:pt x="2940844" y="73628"/>
                    </a:lnTo>
                    <a:lnTo>
                      <a:pt x="3095625" y="110109"/>
                    </a:lnTo>
                    <a:lnTo>
                      <a:pt x="3250406" y="160782"/>
                    </a:lnTo>
                    <a:lnTo>
                      <a:pt x="3405188" y="228028"/>
                    </a:lnTo>
                    <a:lnTo>
                      <a:pt x="3559969" y="312610"/>
                    </a:lnTo>
                    <a:lnTo>
                      <a:pt x="3714750" y="413766"/>
                    </a:lnTo>
                    <a:lnTo>
                      <a:pt x="3869531" y="529114"/>
                    </a:lnTo>
                    <a:lnTo>
                      <a:pt x="4024312" y="655892"/>
                    </a:lnTo>
                    <a:lnTo>
                      <a:pt x="4179094" y="791051"/>
                    </a:lnTo>
                    <a:lnTo>
                      <a:pt x="4333875" y="932021"/>
                    </a:lnTo>
                    <a:lnTo>
                      <a:pt x="4488656" y="1077087"/>
                    </a:lnTo>
                    <a:lnTo>
                      <a:pt x="4643438" y="1224724"/>
                    </a:lnTo>
                    <a:lnTo>
                      <a:pt x="4798219" y="1374076"/>
                    </a:lnTo>
                    <a:lnTo>
                      <a:pt x="4953000" y="1524572"/>
                    </a:lnTo>
                    <a:lnTo>
                      <a:pt x="5107781" y="1675733"/>
                    </a:lnTo>
                    <a:lnTo>
                      <a:pt x="5262562" y="1827371"/>
                    </a:lnTo>
                    <a:lnTo>
                      <a:pt x="5417344" y="1979295"/>
                    </a:lnTo>
                    <a:lnTo>
                      <a:pt x="5572125" y="2131314"/>
                    </a:lnTo>
                    <a:lnTo>
                      <a:pt x="5726906" y="2283524"/>
                    </a:lnTo>
                    <a:lnTo>
                      <a:pt x="5881688" y="2435828"/>
                    </a:lnTo>
                    <a:lnTo>
                      <a:pt x="6036469" y="2588133"/>
                    </a:lnTo>
                    <a:lnTo>
                      <a:pt x="6191250" y="2740533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grpSp>
          <p:nvGrpSpPr>
            <p:cNvPr id="33" name="cutoff-highlight"/>
            <p:cNvGrpSpPr/>
            <p:nvPr/>
          </p:nvGrpSpPr>
          <p:grpSpPr>
            <a:xfrm>
              <a:off x="4665345" y="2534412"/>
              <a:ext cx="152400" cy="2894838"/>
              <a:chOff x="4665345" y="2534412"/>
              <a:chExt cx="152400" cy="2894838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4741545" y="2705100"/>
                <a:ext cx="9525" cy="2724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24150">
                    <a:moveTo>
                      <a:pt x="0" y="0"/>
                    </a:moveTo>
                    <a:lnTo>
                      <a:pt x="0" y="27241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custDash>
                  <a:ds d="250000" sp="250000"/>
                </a:custDash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665345" y="2534412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rgbClr val="FFFFFF"/>
                </a:solidFill>
              </a:ln>
            </p:spPr>
          </p:sp>
        </p:grpSp>
      </p:grpSp>
      <p:grpSp>
        <p:nvGrpSpPr>
          <p:cNvPr id="41" name="response-readings"/>
          <p:cNvGrpSpPr/>
          <p:nvPr/>
        </p:nvGrpSpPr>
        <p:grpSpPr>
          <a:xfrm>
            <a:off x="8369808" y="2127250"/>
            <a:ext cx="2432876" cy="2376170"/>
            <a:chOff x="8369808" y="2127250"/>
            <a:chExt cx="2432876" cy="2376170"/>
          </a:xfrm>
        </p:grpSpPr>
        <p:sp>
          <p:nvSpPr>
            <p:cNvPr id="35" name="TextBox 35"/>
            <p:cNvSpPr txBox="1"/>
            <p:nvPr/>
          </p:nvSpPr>
          <p:spPr>
            <a:xfrm>
              <a:off x="8374380" y="2127250"/>
              <a:ext cx="1695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 Hz / 低频保留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69808" y="2422525"/>
              <a:ext cx="9546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≈ 0 dB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4380" y="3022600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1.59 kHz / 截止点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9808" y="3308350"/>
              <a:ext cx="14720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−3.01 dB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4380" y="3765550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输出幅度约为输入的70.7%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4380" y="4210050"/>
              <a:ext cx="1915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kHz / ≈ −16.1 dB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magnitude-equation"/>
              <p:cNvSpPr txBox="1">
                <a:spLocks noGrp="1"/>
              </p:cNvSpPr>
              <p:nvPr/>
            </p:nvSpPr>
            <p:spPr>
              <a:xfrm>
                <a:off x="8382000" y="4648200"/>
                <a:ext cx="3200400" cy="11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5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6395B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6395B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jω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6395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6395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6395B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6395B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6395B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6395B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6395B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2πfRC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6395B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4" name="theory-note"/>
          <p:cNvGrpSpPr/>
          <p:nvPr/>
        </p:nvGrpSpPr>
        <p:grpSpPr>
          <a:xfrm>
            <a:off x="603504" y="5838825"/>
            <a:ext cx="8824025" cy="234696"/>
            <a:chOff x="603504" y="5838825"/>
            <a:chExt cx="8824025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5838825"/>
              <a:ext cx="8824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理论预测 / 情景参数：R=1 kΩ，C=100 nF；GdB=20 log₁₀|H|；横轴按log₁₀频率映射。实际仿真须核对参数、模型与负载。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45" name="Line 4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031742" cy="991489"/>
            <a:chOff x="592836" y="571500"/>
            <a:chExt cx="4031742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从模型到实物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模型与封装各有任务</a:t>
              </a:r>
            </a:p>
          </p:txBody>
        </p:sp>
      </p:grpSp>
      <p:grpSp>
        <p:nvGrpSpPr>
          <p:cNvPr id="15" name="model-side"/>
          <p:cNvGrpSpPr/>
          <p:nvPr/>
        </p:nvGrpSpPr>
        <p:grpSpPr>
          <a:xfrm>
            <a:off x="598932" y="2108200"/>
            <a:ext cx="4458843" cy="2893695"/>
            <a:chOff x="598932" y="2108200"/>
            <a:chExt cx="4458843" cy="2893695"/>
          </a:xfrm>
        </p:grpSpPr>
        <p:grpSp>
          <p:nvGrpSpPr>
            <p:cNvPr id="7" name="Group 7"/>
            <p:cNvGrpSpPr/>
            <p:nvPr/>
          </p:nvGrpSpPr>
          <p:grpSpPr>
            <a:xfrm>
              <a:off x="673100" y="2181225"/>
              <a:ext cx="254001" cy="215901"/>
              <a:chOff x="673100" y="2181225"/>
              <a:chExt cx="254001" cy="21590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73100" y="2387601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73100" y="2181225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142875"/>
                    </a:moveTo>
                    <a:lnTo>
                      <a:pt x="63500" y="47625"/>
                    </a:lnTo>
                    <a:lnTo>
                      <a:pt x="127000" y="79375"/>
                    </a:lnTo>
                    <a:lnTo>
                      <a:pt x="190500" y="0"/>
                    </a:lnTo>
                    <a:lnTo>
                      <a:pt x="254001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207008" y="21082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仿真模型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47750" y="337185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66950" y="3143250"/>
              <a:ext cx="1143000" cy="457200"/>
            </a:xfrm>
            <a:prstGeom prst="rect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409950" y="3371850"/>
              <a:ext cx="1647825" cy="9525"/>
            </a:xfrm>
            <a:custGeom>
              <a:avLst/>
              <a:gdLst/>
              <a:ahLst/>
              <a:cxnLst/>
              <a:rect l="l" t="t" r="r" b="b"/>
              <a:pathLst>
                <a:path w="1647825" h="9525">
                  <a:moveTo>
                    <a:pt x="0" y="0"/>
                  </a:moveTo>
                  <a:lnTo>
                    <a:pt x="1647825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48401" y="2762250"/>
              <a:ext cx="780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= 1 kΩ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41656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描述电气行为与参数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7085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用于计算电压、电流和频率响应。</a:t>
              </a:r>
            </a:p>
          </p:txBody>
        </p:sp>
      </p:grpSp>
      <p:grpSp>
        <p:nvGrpSpPr>
          <p:cNvPr id="17" name="comparison-rule"/>
          <p:cNvGrpSpPr/>
          <p:nvPr/>
        </p:nvGrpSpPr>
        <p:grpSpPr>
          <a:xfrm>
            <a:off x="6057900" y="2095500"/>
            <a:ext cx="9525" cy="3000375"/>
            <a:chOff x="6057900" y="2095500"/>
            <a:chExt cx="9525" cy="3000375"/>
          </a:xfrm>
        </p:grpSpPr>
        <p:sp>
          <p:nvSpPr>
            <p:cNvPr id="16" name="Line 16"/>
            <p:cNvSpPr/>
            <p:nvPr/>
          </p:nvSpPr>
          <p:spPr>
            <a:xfrm>
              <a:off x="6057900" y="2095500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36" name="footprint-side"/>
          <p:cNvGrpSpPr/>
          <p:nvPr/>
        </p:nvGrpSpPr>
        <p:grpSpPr>
          <a:xfrm>
            <a:off x="6542532" y="2108200"/>
            <a:ext cx="4258818" cy="2893695"/>
            <a:chOff x="6542532" y="2108200"/>
            <a:chExt cx="4258818" cy="2893695"/>
          </a:xfrm>
        </p:grpSpPr>
        <p:grpSp>
          <p:nvGrpSpPr>
            <p:cNvPr id="28" name="Group 28"/>
            <p:cNvGrpSpPr/>
            <p:nvPr/>
          </p:nvGrpSpPr>
          <p:grpSpPr>
            <a:xfrm>
              <a:off x="6600825" y="2133600"/>
              <a:ext cx="285751" cy="285751"/>
              <a:chOff x="6600825" y="2133600"/>
              <a:chExt cx="285751" cy="28575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632575" y="2165350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96075" y="22288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00825" y="22447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00825" y="23082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11950" y="21336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75450" y="21336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54826" y="22447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54826" y="23082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75450" y="2387601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11950" y="2387601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150608" y="2108200"/>
              <a:ext cx="12619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PCB封装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391400" y="3048000"/>
              <a:ext cx="781050" cy="80010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020300" y="3048000"/>
              <a:ext cx="781050" cy="80010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91525" y="3114675"/>
              <a:ext cx="1409700" cy="666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60842" y="2774950"/>
              <a:ext cx="1671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0603（课堂示例）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2532" y="416560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对应尺寸、焊盘与引脚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5580" y="47085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核对实物规格与符号引脚映射。</a:t>
              </a:r>
            </a:p>
          </p:txBody>
        </p:sp>
      </p:grpSp>
      <p:grpSp>
        <p:nvGrpSpPr>
          <p:cNvPr id="39" name="engineering-takeaway"/>
          <p:cNvGrpSpPr/>
          <p:nvPr/>
        </p:nvGrpSpPr>
        <p:grpSpPr>
          <a:xfrm>
            <a:off x="609600" y="5448300"/>
            <a:ext cx="7635392" cy="490093"/>
            <a:chOff x="609600" y="5448300"/>
            <a:chExt cx="7635392" cy="490093"/>
          </a:xfrm>
        </p:grpSpPr>
        <p:sp>
          <p:nvSpPr>
            <p:cNvPr id="37" name="Rectangle 37"/>
            <p:cNvSpPr/>
            <p:nvPr/>
          </p:nvSpPr>
          <p:spPr>
            <a:xfrm>
              <a:off x="609600" y="5448300"/>
              <a:ext cx="47625" cy="447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7532" y="5527675"/>
              <a:ext cx="74174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另建工程原理图：保持网络与R、C参数一致，再指定封装。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40" name="Line 4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844964" cy="991489"/>
            <a:chOff x="592836" y="571500"/>
            <a:chExt cx="4844964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303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原理图转PCB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8449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核对原理图，再转入PCB</a:t>
              </a:r>
            </a:p>
          </p:txBody>
        </p:sp>
      </p:grpSp>
      <p:grpSp>
        <p:nvGrpSpPr>
          <p:cNvPr id="7" name="convert-menu"/>
          <p:cNvGrpSpPr/>
          <p:nvPr/>
        </p:nvGrpSpPr>
        <p:grpSpPr>
          <a:xfrm>
            <a:off x="603504" y="2019300"/>
            <a:ext cx="2482596" cy="3835146"/>
            <a:chOff x="603504" y="2019300"/>
            <a:chExt cx="2482596" cy="3835146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2324100" cy="352425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603504" y="561975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官方菜单截图 / 完整显示</a:t>
              </a:r>
            </a:p>
          </p:txBody>
        </p:sp>
      </p:grpSp>
      <p:grpSp>
        <p:nvGrpSpPr>
          <p:cNvPr id="10" name="network-check"/>
          <p:cNvGrpSpPr/>
          <p:nvPr/>
        </p:nvGrpSpPr>
        <p:grpSpPr>
          <a:xfrm>
            <a:off x="3799332" y="2070100"/>
            <a:ext cx="4507230" cy="836295"/>
            <a:chOff x="3799332" y="2070100"/>
            <a:chExt cx="4507230" cy="836295"/>
          </a:xfrm>
        </p:grpSpPr>
        <p:sp>
          <p:nvSpPr>
            <p:cNvPr id="8" name="TextBox 8"/>
            <p:cNvSpPr txBox="1"/>
            <p:nvPr/>
          </p:nvSpPr>
          <p:spPr>
            <a:xfrm>
              <a:off x="3799332" y="2070100"/>
              <a:ext cx="2415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核对网络与参数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02380" y="2613025"/>
              <a:ext cx="4504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VIN、VOUT与GND连接明确；R=1 kΩ，C=100 nF。</a:t>
              </a:r>
            </a:p>
          </p:txBody>
        </p:sp>
      </p:grpSp>
      <p:grpSp>
        <p:nvGrpSpPr>
          <p:cNvPr id="13" name="footprint-check"/>
          <p:cNvGrpSpPr/>
          <p:nvPr/>
        </p:nvGrpSpPr>
        <p:grpSpPr>
          <a:xfrm>
            <a:off x="3799332" y="3289300"/>
            <a:ext cx="4056888" cy="836295"/>
            <a:chOff x="3799332" y="3289300"/>
            <a:chExt cx="4056888" cy="836295"/>
          </a:xfrm>
        </p:grpSpPr>
        <p:sp>
          <p:nvSpPr>
            <p:cNvPr id="11" name="TextBox 11"/>
            <p:cNvSpPr txBox="1"/>
            <p:nvPr/>
          </p:nvSpPr>
          <p:spPr>
            <a:xfrm>
              <a:off x="3799332" y="3289300"/>
              <a:ext cx="29812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逐个检查封装与引脚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02380" y="38322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封装已指定，符号引脚编号与焊盘编号对应。</a:t>
              </a:r>
            </a:p>
          </p:txBody>
        </p:sp>
      </p:grpSp>
      <p:grpSp>
        <p:nvGrpSpPr>
          <p:cNvPr id="16" name="convert-and-sync"/>
          <p:cNvGrpSpPr/>
          <p:nvPr/>
        </p:nvGrpSpPr>
        <p:grpSpPr>
          <a:xfrm>
            <a:off x="3799332" y="4498975"/>
            <a:ext cx="3828288" cy="1090295"/>
            <a:chOff x="3799332" y="4498975"/>
            <a:chExt cx="3828288" cy="1090295"/>
          </a:xfrm>
        </p:grpSpPr>
        <p:sp>
          <p:nvSpPr>
            <p:cNvPr id="14" name="TextBox 14"/>
            <p:cNvSpPr txBox="1"/>
            <p:nvPr/>
          </p:nvSpPr>
          <p:spPr>
            <a:xfrm>
              <a:off x="3799332" y="4498975"/>
              <a:ext cx="29919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设计 → 原理图转PCB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02380" y="4991100"/>
              <a:ext cx="3825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确认变更后导入；飞线表示尚未完成的连接。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原理图修改后，再同步到同一板子下的PCB。</a:t>
              </a:r>
            </a:p>
          </p:txBody>
        </p:sp>
      </p:grpSp>
      <p:grpSp>
        <p:nvGrpSpPr>
          <p:cNvPr id="18" name="board-start-note"/>
          <p:cNvGrpSpPr/>
          <p:nvPr/>
        </p:nvGrpSpPr>
        <p:grpSpPr>
          <a:xfrm>
            <a:off x="603504" y="5848350"/>
            <a:ext cx="4817059" cy="234696"/>
            <a:chOff x="603504" y="5848350"/>
            <a:chExt cx="4817059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603504" y="5848350"/>
              <a:ext cx="4817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进入PCB后，确认板框与双层铜层设置；菜单名称可能随版本调整。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19" name="Line 19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031742" cy="991489"/>
            <a:chOff x="592836" y="571500"/>
            <a:chExt cx="4031742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元件布局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布局先照顾信号路径</a:t>
              </a:r>
            </a:p>
          </p:txBody>
        </p:sp>
      </p:grpSp>
      <p:grpSp>
        <p:nvGrpSpPr>
          <p:cNvPr id="32" name="placement-board"/>
          <p:cNvGrpSpPr/>
          <p:nvPr/>
        </p:nvGrpSpPr>
        <p:grpSpPr>
          <a:xfrm>
            <a:off x="762000" y="2124075"/>
            <a:ext cx="6019800" cy="3276600"/>
            <a:chOff x="762000" y="2124075"/>
            <a:chExt cx="6019800" cy="3276600"/>
          </a:xfrm>
        </p:grpSpPr>
        <p:sp>
          <p:nvSpPr>
            <p:cNvPr id="5" name="Rectangle 5"/>
            <p:cNvSpPr/>
            <p:nvPr/>
          </p:nvSpPr>
          <p:spPr>
            <a:xfrm>
              <a:off x="762000" y="2124075"/>
              <a:ext cx="6019800" cy="3276600"/>
            </a:xfrm>
            <a:prstGeom prst="roundRect">
              <a:avLst>
                <a:gd name="adj" fmla="val 1163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4979" y="2314575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教学布局示意 / 飞线尚未布线</a:t>
              </a:r>
            </a:p>
          </p:txBody>
        </p:sp>
        <p:grpSp>
          <p:nvGrpSpPr>
            <p:cNvPr id="12" name="airwires"/>
            <p:cNvGrpSpPr/>
            <p:nvPr/>
          </p:nvGrpSpPr>
          <p:grpSpPr>
            <a:xfrm>
              <a:off x="1276350" y="3371850"/>
              <a:ext cx="4762500" cy="1123950"/>
              <a:chOff x="1276350" y="3371850"/>
              <a:chExt cx="4762500" cy="11239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276350" y="3371850"/>
                <a:ext cx="135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">
                    <a:moveTo>
                      <a:pt x="0" y="0"/>
                    </a:moveTo>
                    <a:lnTo>
                      <a:pt x="1352550" y="0"/>
                    </a:lnTo>
                  </a:path>
                </a:pathLst>
              </a:custGeom>
              <a:noFill/>
              <a:ln w="19050">
                <a:solidFill>
                  <a:srgbClr val="627282"/>
                </a:solidFill>
                <a:custDash>
                  <a:ds d="250000" sp="250000"/>
                </a:custDash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505200" y="3371850"/>
                <a:ext cx="14097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114300">
                    <a:moveTo>
                      <a:pt x="0" y="0"/>
                    </a:moveTo>
                    <a:lnTo>
                      <a:pt x="1409700" y="114300"/>
                    </a:lnTo>
                  </a:path>
                </a:pathLst>
              </a:custGeom>
              <a:noFill/>
              <a:ln w="19050">
                <a:solidFill>
                  <a:srgbClr val="627282"/>
                </a:solidFill>
                <a:custDash>
                  <a:ds d="250000" sp="250000"/>
                </a:custDash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4914900" y="3371850"/>
                <a:ext cx="1123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23950" h="114300">
                    <a:moveTo>
                      <a:pt x="0" y="114300"/>
                    </a:moveTo>
                    <a:lnTo>
                      <a:pt x="1123950" y="0"/>
                    </a:lnTo>
                  </a:path>
                </a:pathLst>
              </a:custGeom>
              <a:noFill/>
              <a:ln w="19050">
                <a:solidFill>
                  <a:srgbClr val="627282"/>
                </a:solidFill>
                <a:custDash>
                  <a:ds d="250000" sp="250000"/>
                </a:custDash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276350" y="4419600"/>
                <a:ext cx="36385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638550" h="76200">
                    <a:moveTo>
                      <a:pt x="0" y="0"/>
                    </a:moveTo>
                    <a:lnTo>
                      <a:pt x="3638550" y="76200"/>
                    </a:lnTo>
                  </a:path>
                </a:pathLst>
              </a:custGeom>
              <a:noFill/>
              <a:ln w="19050">
                <a:solidFill>
                  <a:srgbClr val="627282"/>
                </a:solidFill>
                <a:custDash>
                  <a:ds d="250000" sp="250000"/>
                </a:custDash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4914900" y="4419600"/>
                <a:ext cx="11239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23950" h="76200">
                    <a:moveTo>
                      <a:pt x="0" y="76200"/>
                    </a:moveTo>
                    <a:lnTo>
                      <a:pt x="1123950" y="0"/>
                    </a:lnTo>
                  </a:path>
                </a:pathLst>
              </a:custGeom>
              <a:noFill/>
              <a:ln w="19050">
                <a:solidFill>
                  <a:srgbClr val="627282"/>
                </a:solidFill>
                <a:custDash>
                  <a:ds d="250000" sp="250000"/>
                </a:custDash>
              </a:ln>
            </p:spPr>
          </p:sp>
        </p:grpSp>
        <p:grpSp>
          <p:nvGrpSpPr>
            <p:cNvPr id="17" name="connector-pads"/>
            <p:cNvGrpSpPr/>
            <p:nvPr/>
          </p:nvGrpSpPr>
          <p:grpSpPr>
            <a:xfrm>
              <a:off x="1152525" y="3248025"/>
              <a:ext cx="5010150" cy="1295400"/>
              <a:chOff x="1152525" y="3248025"/>
              <a:chExt cx="5010150" cy="12954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152525" y="324802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152525" y="429577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5915025" y="324802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5915025" y="429577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</p:grpSp>
        <p:grpSp>
          <p:nvGrpSpPr>
            <p:cNvPr id="21" name="resistor-footprint"/>
            <p:cNvGrpSpPr/>
            <p:nvPr/>
          </p:nvGrpSpPr>
          <p:grpSpPr>
            <a:xfrm>
              <a:off x="2476500" y="3162300"/>
              <a:ext cx="1181100" cy="419100"/>
              <a:chOff x="2476500" y="3162300"/>
              <a:chExt cx="1181100" cy="4191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476500" y="3162300"/>
                <a:ext cx="304800" cy="419100"/>
              </a:xfrm>
              <a:prstGeom prst="rect">
                <a:avLst/>
              </a:prstGeom>
              <a:solidFill>
                <a:schemeClr val="accent2">
                  <a:alpha val="3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352800" y="3162300"/>
                <a:ext cx="304800" cy="419100"/>
              </a:xfrm>
              <a:prstGeom prst="rect">
                <a:avLst/>
              </a:prstGeom>
              <a:solidFill>
                <a:schemeClr val="accent2">
                  <a:alpha val="3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781300" y="3162300"/>
                <a:ext cx="571500" cy="4191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25" name="capacitor-footprint"/>
            <p:cNvGrpSpPr/>
            <p:nvPr/>
          </p:nvGrpSpPr>
          <p:grpSpPr>
            <a:xfrm>
              <a:off x="4762500" y="3276600"/>
              <a:ext cx="304800" cy="1428750"/>
              <a:chOff x="4762500" y="3276600"/>
              <a:chExt cx="304800" cy="1428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762500" y="3276600"/>
                <a:ext cx="304800" cy="419100"/>
              </a:xfrm>
              <a:prstGeom prst="rect">
                <a:avLst/>
              </a:prstGeom>
              <a:solidFill>
                <a:schemeClr val="accent2">
                  <a:alpha val="3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4762500" y="4286250"/>
                <a:ext cx="304800" cy="419100"/>
              </a:xfrm>
              <a:prstGeom prst="rect">
                <a:avLst/>
              </a:prstGeom>
              <a:solidFill>
                <a:schemeClr val="accent2">
                  <a:alpha val="3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762500" y="3695700"/>
                <a:ext cx="304800" cy="59055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11555" y="2771775"/>
              <a:ext cx="794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J1 / VIN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16880" y="2771775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J2 / VOUT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54605" y="2733675"/>
              <a:ext cx="895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R1 / 1 kΩ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6855" y="3762375"/>
              <a:ext cx="5962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C1</a:t>
              </a:r>
              <a:b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nF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1080" y="468630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16905" y="468630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GND</a:t>
              </a:r>
            </a:p>
          </p:txBody>
        </p:sp>
      </p:grpSp>
      <p:grpSp>
        <p:nvGrpSpPr>
          <p:cNvPr id="39" name="placement-guidance"/>
          <p:cNvGrpSpPr/>
          <p:nvPr/>
        </p:nvGrpSpPr>
        <p:grpSpPr>
          <a:xfrm>
            <a:off x="7455408" y="2089150"/>
            <a:ext cx="4126992" cy="3319145"/>
            <a:chOff x="7455408" y="2089150"/>
            <a:chExt cx="4126992" cy="3319145"/>
          </a:xfrm>
        </p:grpSpPr>
        <p:sp>
          <p:nvSpPr>
            <p:cNvPr id="33" name="TextBox 33"/>
            <p:cNvSpPr txBox="1"/>
            <p:nvPr/>
          </p:nvSpPr>
          <p:spPr>
            <a:xfrm>
              <a:off x="7455408" y="20891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短而清楚的路径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6932" y="28035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输入、输出接口分侧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6932" y="3384550"/>
              <a:ext cx="21645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R沿信号路径放置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6932" y="3965575"/>
              <a:ext cx="18818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C靠近输出节点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467600" y="4562475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59980" y="4810125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留出焊接与机械空间。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板形按器件和外壳确定。</a:t>
              </a:r>
            </a:p>
          </p:txBody>
        </p:sp>
      </p:grpSp>
      <p:grpSp>
        <p:nvGrpSpPr>
          <p:cNvPr id="41" name="placement-note"/>
          <p:cNvGrpSpPr/>
          <p:nvPr/>
        </p:nvGrpSpPr>
        <p:grpSpPr>
          <a:xfrm>
            <a:off x="603504" y="5734050"/>
            <a:ext cx="4817059" cy="234696"/>
            <a:chOff x="603504" y="5734050"/>
            <a:chExt cx="4817059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603504" y="5734050"/>
              <a:ext cx="4817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情景示意：不代表实际封装尺寸、制造参数或已通过软件DRC的板。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42" name="Line 42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920234" cy="991489"/>
            <a:chOff x="592836" y="571500"/>
            <a:chExt cx="4920234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布线与铺铜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布线与铺铜，连接要闭合</a:t>
              </a:r>
            </a:p>
          </p:txBody>
        </p:sp>
      </p:grpSp>
      <p:grpSp>
        <p:nvGrpSpPr>
          <p:cNvPr id="34" name="routed-board"/>
          <p:cNvGrpSpPr/>
          <p:nvPr/>
        </p:nvGrpSpPr>
        <p:grpSpPr>
          <a:xfrm>
            <a:off x="762000" y="2124075"/>
            <a:ext cx="6019800" cy="3276600"/>
            <a:chOff x="762000" y="2124075"/>
            <a:chExt cx="6019800" cy="3276600"/>
          </a:xfrm>
        </p:grpSpPr>
        <p:sp>
          <p:nvSpPr>
            <p:cNvPr id="5" name="Rectangle 5"/>
            <p:cNvSpPr/>
            <p:nvPr/>
          </p:nvSpPr>
          <p:spPr>
            <a:xfrm>
              <a:off x="762000" y="2124075"/>
              <a:ext cx="6019800" cy="3276600"/>
            </a:xfrm>
            <a:prstGeom prst="roundRect">
              <a:avLst>
                <a:gd name="adj" fmla="val 1163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4979" y="2314575"/>
              <a:ext cx="2418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同一布局 / 新增信号线与GND铜区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14400" y="4200525"/>
              <a:ext cx="5715000" cy="1000125"/>
            </a:xfrm>
            <a:prstGeom prst="rect">
              <a:avLst/>
            </a:prstGeom>
            <a:solidFill>
              <a:schemeClr val="accent3">
                <a:alpha val="14000"/>
              </a:schemeClr>
            </a:solidFill>
            <a:ln>
              <a:noFill/>
            </a:ln>
          </p:spPr>
        </p:sp>
        <p:grpSp>
          <p:nvGrpSpPr>
            <p:cNvPr id="11" name="signal-traces"/>
            <p:cNvGrpSpPr/>
            <p:nvPr/>
          </p:nvGrpSpPr>
          <p:grpSpPr>
            <a:xfrm>
              <a:off x="1276350" y="3371850"/>
              <a:ext cx="4762500" cy="114300"/>
              <a:chOff x="1276350" y="3371850"/>
              <a:chExt cx="4762500" cy="114300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276350" y="3371850"/>
                <a:ext cx="135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">
                    <a:moveTo>
                      <a:pt x="0" y="0"/>
                    </a:moveTo>
                    <a:lnTo>
                      <a:pt x="1352550" y="0"/>
                    </a:lnTo>
                  </a:path>
                </a:pathLst>
              </a:custGeom>
              <a:noFill/>
              <a:ln w="76200">
                <a:solidFill>
                  <a:schemeClr val="accent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505200" y="3371850"/>
                <a:ext cx="14097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114300">
                    <a:moveTo>
                      <a:pt x="0" y="0"/>
                    </a:moveTo>
                    <a:lnTo>
                      <a:pt x="1409700" y="114300"/>
                    </a:lnTo>
                  </a:path>
                </a:pathLst>
              </a:custGeom>
              <a:noFill/>
              <a:ln w="76200">
                <a:solidFill>
                  <a:schemeClr val="accent2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4914900" y="3371850"/>
                <a:ext cx="1123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23950" h="114300">
                    <a:moveTo>
                      <a:pt x="0" y="114300"/>
                    </a:moveTo>
                    <a:lnTo>
                      <a:pt x="1123950" y="0"/>
                    </a:lnTo>
                  </a:path>
                </a:pathLst>
              </a:custGeom>
              <a:noFill/>
              <a:ln w="76200">
                <a:solidFill>
                  <a:schemeClr val="accent2"/>
                </a:solidFill>
              </a:ln>
            </p:spPr>
          </p:sp>
        </p:grpSp>
        <p:grpSp>
          <p:nvGrpSpPr>
            <p:cNvPr id="15" name="ground-links"/>
            <p:cNvGrpSpPr/>
            <p:nvPr/>
          </p:nvGrpSpPr>
          <p:grpSpPr>
            <a:xfrm>
              <a:off x="1276350" y="4419600"/>
              <a:ext cx="4772025" cy="581025"/>
              <a:chOff x="1276350" y="4419600"/>
              <a:chExt cx="4772025" cy="58102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1276350" y="4419600"/>
                <a:ext cx="9525" cy="581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81025">
                    <a:moveTo>
                      <a:pt x="0" y="0"/>
                    </a:moveTo>
                    <a:lnTo>
                      <a:pt x="0" y="581025"/>
                    </a:lnTo>
                  </a:path>
                </a:pathLst>
              </a:custGeom>
              <a:noFill/>
              <a:ln w="76200">
                <a:solidFill>
                  <a:schemeClr val="accent3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4914900" y="4495800"/>
                <a:ext cx="9525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4825">
                    <a:moveTo>
                      <a:pt x="0" y="0"/>
                    </a:moveTo>
                    <a:lnTo>
                      <a:pt x="0" y="504825"/>
                    </a:lnTo>
                  </a:path>
                </a:pathLst>
              </a:custGeom>
              <a:noFill/>
              <a:ln w="76200">
                <a:solidFill>
                  <a:schemeClr val="accent3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038850" y="4419600"/>
                <a:ext cx="9525" cy="581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81025">
                    <a:moveTo>
                      <a:pt x="0" y="0"/>
                    </a:moveTo>
                    <a:lnTo>
                      <a:pt x="0" y="581025"/>
                    </a:lnTo>
                  </a:path>
                </a:pathLst>
              </a:custGeom>
              <a:noFill/>
              <a:ln w="76200">
                <a:solidFill>
                  <a:schemeClr val="accent3"/>
                </a:solidFill>
              </a:ln>
            </p:spPr>
          </p:sp>
        </p:grpSp>
        <p:grpSp>
          <p:nvGrpSpPr>
            <p:cNvPr id="20" name="connector-pads"/>
            <p:cNvGrpSpPr/>
            <p:nvPr/>
          </p:nvGrpSpPr>
          <p:grpSpPr>
            <a:xfrm>
              <a:off x="1152525" y="3248025"/>
              <a:ext cx="5010150" cy="1295400"/>
              <a:chOff x="1152525" y="3248025"/>
              <a:chExt cx="5010150" cy="12954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152525" y="324802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152525" y="429577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5915025" y="324802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5915025" y="4295775"/>
                <a:ext cx="247650" cy="24765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</p:grpSp>
        <p:grpSp>
          <p:nvGrpSpPr>
            <p:cNvPr id="24" name="resistor-footprint"/>
            <p:cNvGrpSpPr/>
            <p:nvPr/>
          </p:nvGrpSpPr>
          <p:grpSpPr>
            <a:xfrm>
              <a:off x="2476500" y="3162300"/>
              <a:ext cx="1181100" cy="419100"/>
              <a:chOff x="2476500" y="3162300"/>
              <a:chExt cx="1181100" cy="4191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2476500" y="3162300"/>
                <a:ext cx="304800" cy="41910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352800" y="3162300"/>
                <a:ext cx="304800" cy="41910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781300" y="3162300"/>
                <a:ext cx="571500" cy="4191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28" name="capacitor-footprint"/>
            <p:cNvGrpSpPr/>
            <p:nvPr/>
          </p:nvGrpSpPr>
          <p:grpSpPr>
            <a:xfrm>
              <a:off x="4762500" y="3276600"/>
              <a:ext cx="304800" cy="1428750"/>
              <a:chOff x="4762500" y="3276600"/>
              <a:chExt cx="304800" cy="1428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762500" y="3276600"/>
                <a:ext cx="304800" cy="41910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762500" y="4286250"/>
                <a:ext cx="304800" cy="419100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762500" y="3695700"/>
                <a:ext cx="304800" cy="59055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11555" y="2771775"/>
              <a:ext cx="794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J1 / VIN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16880" y="2771775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J2 / VOUT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54605" y="2733675"/>
              <a:ext cx="895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R1 / 1 kΩ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16855" y="3762375"/>
              <a:ext cx="5962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C1</a:t>
              </a:r>
              <a:b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nF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59380" y="4737100"/>
              <a:ext cx="1578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GND铜区（示意）</a:t>
              </a:r>
            </a:p>
          </p:txBody>
        </p:sp>
      </p:grpSp>
      <p:grpSp>
        <p:nvGrpSpPr>
          <p:cNvPr id="41" name="routing-guidance"/>
          <p:cNvGrpSpPr/>
          <p:nvPr/>
        </p:nvGrpSpPr>
        <p:grpSpPr>
          <a:xfrm>
            <a:off x="7455408" y="2089150"/>
            <a:ext cx="2286000" cy="3395345"/>
            <a:chOff x="7455408" y="2089150"/>
            <a:chExt cx="2286000" cy="3395345"/>
          </a:xfrm>
        </p:grpSpPr>
        <p:sp>
          <p:nvSpPr>
            <p:cNvPr id="35" name="TextBox 35"/>
            <p:cNvSpPr txBox="1"/>
            <p:nvPr/>
          </p:nvSpPr>
          <p:spPr>
            <a:xfrm>
              <a:off x="7455408" y="20891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先接通，再检查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6932" y="2727325"/>
              <a:ext cx="20077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VIN → R → VOUT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9980" y="3213100"/>
              <a:ext cx="2100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C从输出节点接到GND。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56932" y="377507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少绕行，减少跨层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56932" y="43751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铜区选对层与网络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9980" y="4886325"/>
              <a:ext cx="22345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修改后重建铜区，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核对GND连接与剩余飞线。</a:t>
              </a:r>
            </a:p>
          </p:txBody>
        </p:sp>
      </p:grpSp>
      <p:grpSp>
        <p:nvGrpSpPr>
          <p:cNvPr id="43" name="routing-note"/>
          <p:cNvGrpSpPr/>
          <p:nvPr/>
        </p:nvGrpSpPr>
        <p:grpSpPr>
          <a:xfrm>
            <a:off x="603504" y="5734050"/>
            <a:ext cx="7078675" cy="234696"/>
            <a:chOff x="603504" y="5734050"/>
            <a:chExt cx="7078675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603504" y="5734050"/>
              <a:ext cx="707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情景示意，未执行软件DRC。铺铜不会自动证明接地质量；线宽、间距和板边距离按实际规则检查。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44" name="Line 44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844964" cy="991489"/>
            <a:chOff x="592836" y="571500"/>
            <a:chExt cx="4844964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设计复核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8449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DRC通过，还要人工复核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09600" y="2352675"/>
            <a:ext cx="209550" cy="2714625"/>
          </a:xfrm>
          <a:prstGeom prst="leftBracket">
            <a:avLst/>
          </a:prstGeom>
          <a:noFill/>
          <a:ln w="19050">
            <a:solidFill>
              <a:schemeClr val="accent1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6648450" y="2352675"/>
            <a:ext cx="209550" cy="2714625"/>
          </a:xfrm>
          <a:prstGeom prst="leftBracket">
            <a:avLst/>
          </a:prstGeom>
          <a:noFill/>
          <a:ln w="19050">
            <a:solidFill>
              <a:schemeClr val="accent3"/>
            </a:solidFill>
          </a:ln>
        </p:spPr>
      </p:sp>
      <p:grpSp>
        <p:nvGrpSpPr>
          <p:cNvPr id="14" name="drc-checks"/>
          <p:cNvGrpSpPr/>
          <p:nvPr/>
        </p:nvGrpSpPr>
        <p:grpSpPr>
          <a:xfrm>
            <a:off x="968883" y="1955800"/>
            <a:ext cx="2644902" cy="3274695"/>
            <a:chOff x="968883" y="1955800"/>
            <a:chExt cx="2644902" cy="3274695"/>
          </a:xfrm>
        </p:grpSpPr>
        <p:sp>
          <p:nvSpPr>
            <p:cNvPr id="7" name="TextBox 7"/>
            <p:cNvSpPr txBox="1"/>
            <p:nvPr/>
          </p:nvSpPr>
          <p:spPr>
            <a:xfrm>
              <a:off x="968883" y="19558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规则检查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0407" y="25463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连接是否完成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3455" y="2974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有无残余飞线、未连接网络。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0407" y="35274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线宽、间距与板边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3455" y="39560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是否满足当前项目规则。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0407" y="45085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核对制造商当前能力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3455" y="4937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用对应工艺要求设置规则。</a:t>
              </a:r>
            </a:p>
          </p:txBody>
        </p:sp>
      </p:grpSp>
      <p:grpSp>
        <p:nvGrpSpPr>
          <p:cNvPr id="22" name="manual-checks"/>
          <p:cNvGrpSpPr/>
          <p:nvPr/>
        </p:nvGrpSpPr>
        <p:grpSpPr>
          <a:xfrm>
            <a:off x="7017258" y="1955800"/>
            <a:ext cx="2846832" cy="3274695"/>
            <a:chOff x="7017258" y="1955800"/>
            <a:chExt cx="2846832" cy="3274695"/>
          </a:xfrm>
        </p:grpSpPr>
        <p:sp>
          <p:nvSpPr>
            <p:cNvPr id="15" name="TextBox 15"/>
            <p:cNvSpPr txBox="1"/>
            <p:nvPr/>
          </p:nvSpPr>
          <p:spPr>
            <a:xfrm>
              <a:off x="7017258" y="19558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工程意图检查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18782" y="25463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封装、引脚与方向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1830" y="29749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是否符合实际器件与连接意图。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18782" y="35274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丝印与装配空间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1830" y="39560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文字能读，器件能装、能焊。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18782" y="45085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电路功能与接口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21830" y="4937125"/>
              <a:ext cx="2790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DRC通过不证明电路功能正确。</a:t>
              </a:r>
            </a:p>
          </p:txBody>
        </p:sp>
      </p:grpSp>
      <p:grpSp>
        <p:nvGrpSpPr>
          <p:cNvPr id="27" name="review-takeaway"/>
          <p:cNvGrpSpPr/>
          <p:nvPr/>
        </p:nvGrpSpPr>
        <p:grpSpPr>
          <a:xfrm>
            <a:off x="636588" y="5518150"/>
            <a:ext cx="7038352" cy="469392"/>
            <a:chOff x="636588" y="5518150"/>
            <a:chExt cx="7038352" cy="469392"/>
          </a:xfrm>
        </p:grpSpPr>
        <p:grpSp>
          <p:nvGrpSpPr>
            <p:cNvPr id="25" name="Group 25"/>
            <p:cNvGrpSpPr/>
            <p:nvPr/>
          </p:nvGrpSpPr>
          <p:grpSpPr>
            <a:xfrm>
              <a:off x="636588" y="5628481"/>
              <a:ext cx="269875" cy="134938"/>
              <a:chOff x="636588" y="5628481"/>
              <a:chExt cx="269875" cy="13493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04056" y="5628481"/>
                <a:ext cx="202407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34938">
                    <a:moveTo>
                      <a:pt x="0" y="67469"/>
                    </a:moveTo>
                    <a:lnTo>
                      <a:pt x="67469" y="134938"/>
                    </a:lnTo>
                    <a:lnTo>
                      <a:pt x="202407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6588" y="5628481"/>
                <a:ext cx="202407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34938">
                    <a:moveTo>
                      <a:pt x="0" y="67469"/>
                    </a:moveTo>
                    <a:lnTo>
                      <a:pt x="67469" y="134938"/>
                    </a:lnTo>
                    <a:moveTo>
                      <a:pt x="134938" y="67469"/>
                    </a:moveTo>
                    <a:lnTo>
                      <a:pt x="202407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140333" y="5518150"/>
              <a:ext cx="65346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规则检查 + 人工复核，才构成完整交付检查。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28" name="Line 2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4920234" cy="991489"/>
            <a:chOff x="592836" y="571500"/>
            <a:chExt cx="4920234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制造文件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导出之前，检查四类文件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09600" y="2209800"/>
            <a:ext cx="2514600" cy="2190750"/>
          </a:xfrm>
          <a:prstGeom prst="foldedCorner">
            <a:avLst/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3429000" y="2209800"/>
            <a:ext cx="2514600" cy="2190750"/>
          </a:xfrm>
          <a:prstGeom prst="foldedCorner">
            <a:avLst/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6248400" y="2209800"/>
            <a:ext cx="2514600" cy="2190750"/>
          </a:xfrm>
          <a:prstGeom prst="foldedCorner">
            <a:avLst/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9067800" y="2209800"/>
            <a:ext cx="2514600" cy="2190750"/>
          </a:xfrm>
          <a:prstGeom prst="foldedCorner">
            <a:avLst/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14" name="copper-visual"/>
          <p:cNvGrpSpPr/>
          <p:nvPr/>
        </p:nvGrpSpPr>
        <p:grpSpPr>
          <a:xfrm>
            <a:off x="782955" y="2495550"/>
            <a:ext cx="1798320" cy="1409700"/>
            <a:chOff x="782955" y="2495550"/>
            <a:chExt cx="1798320" cy="1409700"/>
          </a:xfrm>
        </p:grpSpPr>
        <p:sp>
          <p:nvSpPr>
            <p:cNvPr id="9" name="TextBox 9"/>
            <p:cNvSpPr txBox="1"/>
            <p:nvPr/>
          </p:nvSpPr>
          <p:spPr>
            <a:xfrm>
              <a:off x="782955" y="2495550"/>
              <a:ext cx="1242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COPPER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90600" y="3114675"/>
              <a:ext cx="3048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76475" y="3600450"/>
              <a:ext cx="3048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267075"/>
              <a:ext cx="1285875" cy="485775"/>
            </a:xfrm>
            <a:custGeom>
              <a:avLst/>
              <a:gdLst/>
              <a:ahLst/>
              <a:cxnLst/>
              <a:rect l="l" t="t" r="r" b="b"/>
              <a:pathLst>
                <a:path w="1285875" h="485775">
                  <a:moveTo>
                    <a:pt x="0" y="0"/>
                  </a:moveTo>
                  <a:lnTo>
                    <a:pt x="1285875" y="485775"/>
                  </a:lnTo>
                </a:path>
              </a:pathLst>
            </a:custGeom>
            <a:noFill/>
            <a:ln w="9525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743075" y="3124200"/>
              <a:ext cx="24765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0" name="mask-visual"/>
          <p:cNvGrpSpPr/>
          <p:nvPr/>
        </p:nvGrpSpPr>
        <p:grpSpPr>
          <a:xfrm>
            <a:off x="3602355" y="2495550"/>
            <a:ext cx="1845945" cy="1438275"/>
            <a:chOff x="3602355" y="2495550"/>
            <a:chExt cx="1845945" cy="1438275"/>
          </a:xfrm>
        </p:grpSpPr>
        <p:sp>
          <p:nvSpPr>
            <p:cNvPr id="15" name="TextBox 15"/>
            <p:cNvSpPr txBox="1"/>
            <p:nvPr/>
          </p:nvSpPr>
          <p:spPr>
            <a:xfrm>
              <a:off x="3602355" y="2495550"/>
              <a:ext cx="1668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MASK + SILK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76675" y="3028950"/>
              <a:ext cx="1571625" cy="904875"/>
            </a:xfrm>
            <a:prstGeom prst="rect">
              <a:avLst/>
            </a:prstGeom>
            <a:solidFill>
              <a:schemeClr val="accent3">
                <a:alpha val="12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67175" y="3238500"/>
              <a:ext cx="285750" cy="381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62525" y="3238500"/>
              <a:ext cx="285750" cy="381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88180" y="359092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</p:grpSp>
      <p:grpSp>
        <p:nvGrpSpPr>
          <p:cNvPr id="23" name="outline-visual"/>
          <p:cNvGrpSpPr/>
          <p:nvPr/>
        </p:nvGrpSpPr>
        <p:grpSpPr>
          <a:xfrm>
            <a:off x="6421755" y="2495550"/>
            <a:ext cx="1884045" cy="1438275"/>
            <a:chOff x="6421755" y="2495550"/>
            <a:chExt cx="1884045" cy="1438275"/>
          </a:xfrm>
        </p:grpSpPr>
        <p:sp>
          <p:nvSpPr>
            <p:cNvPr id="21" name="TextBox 21"/>
            <p:cNvSpPr txBox="1"/>
            <p:nvPr/>
          </p:nvSpPr>
          <p:spPr>
            <a:xfrm>
              <a:off x="6421755" y="2495550"/>
              <a:ext cx="1306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OUTLINE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34175" y="3028950"/>
              <a:ext cx="1571625" cy="904875"/>
            </a:xfrm>
            <a:prstGeom prst="roundRect">
              <a:avLst>
                <a:gd name="adj" fmla="val 4211"/>
              </a:avLst>
            </a:pr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29" name="drill-visual"/>
          <p:cNvGrpSpPr/>
          <p:nvPr/>
        </p:nvGrpSpPr>
        <p:grpSpPr>
          <a:xfrm>
            <a:off x="9241155" y="2495550"/>
            <a:ext cx="1712595" cy="1419225"/>
            <a:chOff x="9241155" y="2495550"/>
            <a:chExt cx="1712595" cy="1419225"/>
          </a:xfrm>
        </p:grpSpPr>
        <p:sp>
          <p:nvSpPr>
            <p:cNvPr id="24" name="TextBox 24"/>
            <p:cNvSpPr txBox="1"/>
            <p:nvPr/>
          </p:nvSpPr>
          <p:spPr>
            <a:xfrm>
              <a:off x="9241155" y="2495550"/>
              <a:ext cx="1028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DRILL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9620250" y="313372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725150" y="313372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620250" y="368617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725150" y="368617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38" name="file-labels"/>
          <p:cNvGrpSpPr/>
          <p:nvPr/>
        </p:nvGrpSpPr>
        <p:grpSpPr>
          <a:xfrm>
            <a:off x="598932" y="4651375"/>
            <a:ext cx="10293858" cy="788670"/>
            <a:chOff x="598932" y="4651375"/>
            <a:chExt cx="10293858" cy="788670"/>
          </a:xfrm>
        </p:grpSpPr>
        <p:sp>
          <p:nvSpPr>
            <p:cNvPr id="30" name="TextBox 30"/>
            <p:cNvSpPr txBox="1"/>
            <p:nvPr/>
          </p:nvSpPr>
          <p:spPr>
            <a:xfrm>
              <a:off x="598932" y="4651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铜层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18332" y="46513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阻焊与丝印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37732" y="4651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板框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57132" y="4651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钻孔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980" y="51466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顶层、底层是否齐全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21380" y="51466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开窗与文字是否正确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0780" y="51466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外形是否闭合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0180" y="51466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孔位与孔径是否正确</a:t>
              </a:r>
            </a:p>
          </p:txBody>
        </p:sp>
      </p:grpSp>
      <p:grpSp>
        <p:nvGrpSpPr>
          <p:cNvPr id="40" name="export-review-note"/>
          <p:cNvGrpSpPr/>
          <p:nvPr/>
        </p:nvGrpSpPr>
        <p:grpSpPr>
          <a:xfrm>
            <a:off x="601980" y="5737225"/>
            <a:ext cx="6591681" cy="293370"/>
            <a:chOff x="601980" y="5737225"/>
            <a:chExt cx="6591681" cy="293370"/>
          </a:xfrm>
        </p:grpSpPr>
        <p:sp>
          <p:nvSpPr>
            <p:cNvPr id="39" name="TextBox 39"/>
            <p:cNvSpPr txBox="1"/>
            <p:nvPr/>
          </p:nvSpPr>
          <p:spPr>
            <a:xfrm>
              <a:off x="601980" y="5737225"/>
              <a:ext cx="659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导出Gerber后，复核2D/3D与Gerber预览；提交时按制造要求核对层叠。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41" name="Line 4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2836" y="571500"/>
            <a:ext cx="5364480" cy="991489"/>
            <a:chOff x="592836" y="571500"/>
            <a:chExt cx="5364480" cy="99148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课堂检验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1757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现在，你能检查这个设计吗</a:t>
              </a:r>
            </a:p>
          </p:txBody>
        </p:sp>
      </p:grpSp>
      <p:grpSp>
        <p:nvGrpSpPr>
          <p:cNvPr id="7" name="quiz-one"/>
          <p:cNvGrpSpPr/>
          <p:nvPr/>
        </p:nvGrpSpPr>
        <p:grpSpPr>
          <a:xfrm>
            <a:off x="595884" y="2197100"/>
            <a:ext cx="4677537" cy="528066"/>
            <a:chOff x="595884" y="2197100"/>
            <a:chExt cx="4677537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595884" y="2197100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94257" y="22415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截止频率处，输出幅度是多少？</a:t>
              </a:r>
            </a:p>
          </p:txBody>
        </p:sp>
      </p:grpSp>
      <p:grpSp>
        <p:nvGrpSpPr>
          <p:cNvPr id="10" name="quiz-two"/>
          <p:cNvGrpSpPr/>
          <p:nvPr/>
        </p:nvGrpSpPr>
        <p:grpSpPr>
          <a:xfrm>
            <a:off x="595884" y="3216275"/>
            <a:ext cx="4112133" cy="528066"/>
            <a:chOff x="595884" y="3216275"/>
            <a:chExt cx="4112133" cy="528066"/>
          </a:xfrm>
        </p:grpSpPr>
        <p:sp>
          <p:nvSpPr>
            <p:cNvPr id="8" name="TextBox 8"/>
            <p:cNvSpPr txBox="1"/>
            <p:nvPr/>
          </p:nvSpPr>
          <p:spPr>
            <a:xfrm>
              <a:off x="595884" y="3216275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94257" y="326072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为什么模型不能替代封装？</a:t>
              </a:r>
            </a:p>
          </p:txBody>
        </p:sp>
      </p:grpSp>
      <p:grpSp>
        <p:nvGrpSpPr>
          <p:cNvPr id="13" name="quiz-three"/>
          <p:cNvGrpSpPr/>
          <p:nvPr/>
        </p:nvGrpSpPr>
        <p:grpSpPr>
          <a:xfrm>
            <a:off x="595884" y="4235450"/>
            <a:ext cx="4488447" cy="528066"/>
            <a:chOff x="595884" y="4235450"/>
            <a:chExt cx="4488447" cy="528066"/>
          </a:xfrm>
        </p:grpSpPr>
        <p:sp>
          <p:nvSpPr>
            <p:cNvPr id="11" name="TextBox 11"/>
            <p:cNvSpPr txBox="1"/>
            <p:nvPr/>
          </p:nvSpPr>
          <p:spPr>
            <a:xfrm>
              <a:off x="595884" y="4235450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94257" y="4279900"/>
              <a:ext cx="37900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Gerber导出前，还要查什么？</a:t>
              </a:r>
            </a:p>
          </p:txBody>
        </p:sp>
      </p:grpSp>
      <p:grpSp>
        <p:nvGrpSpPr>
          <p:cNvPr id="20" name="next-experiment"/>
          <p:cNvGrpSpPr/>
          <p:nvPr/>
        </p:nvGrpSpPr>
        <p:grpSpPr>
          <a:xfrm>
            <a:off x="7467600" y="2095500"/>
            <a:ext cx="4114800" cy="2952750"/>
            <a:chOff x="7467600" y="2095500"/>
            <a:chExt cx="4114800" cy="2952750"/>
          </a:xfrm>
        </p:grpSpPr>
        <p:sp>
          <p:nvSpPr>
            <p:cNvPr id="14" name="Rectangle 14"/>
            <p:cNvSpPr/>
            <p:nvPr/>
          </p:nvSpPr>
          <p:spPr>
            <a:xfrm>
              <a:off x="7467600" y="2095500"/>
              <a:ext cx="4114800" cy="2952750"/>
            </a:xfrm>
            <a:prstGeom prst="roundRect">
              <a:avLst>
                <a:gd name="adj" fmla="val 1290"/>
              </a:avLst>
            </a:prstGeom>
            <a:solidFill>
              <a:schemeClr val="accent2">
                <a:alpha val="9000"/>
              </a:scheme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41158" y="22796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课后实验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0" y="2946400"/>
              <a:ext cx="1865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保持R不变，将C改为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9634" y="3340100"/>
              <a:ext cx="12608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220 nF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0" y="3952875"/>
              <a:ext cx="2301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先预测截止频率，再仿真；</a:t>
              </a:r>
              <a:b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同步修改工程原理图参数。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7254" y="470535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课堂情景任务 / 完整练习见课程大纲</a:t>
              </a:r>
            </a:p>
          </p:txBody>
        </p:sp>
      </p:grpSp>
      <p:grpSp>
        <p:nvGrpSpPr>
          <p:cNvPr id="23" name="closing-takeaway"/>
          <p:cNvGrpSpPr/>
          <p:nvPr/>
        </p:nvGrpSpPr>
        <p:grpSpPr>
          <a:xfrm>
            <a:off x="597408" y="5429250"/>
            <a:ext cx="10984992" cy="605917"/>
            <a:chOff x="597408" y="5429250"/>
            <a:chExt cx="10984992" cy="605917"/>
          </a:xfrm>
        </p:grpSpPr>
        <p:sp>
          <p:nvSpPr>
            <p:cNvPr id="21" name="Line 21"/>
            <p:cNvSpPr/>
            <p:nvPr/>
          </p:nvSpPr>
          <p:spPr>
            <a:xfrm>
              <a:off x="609600" y="5429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408" y="5565775"/>
              <a:ext cx="48159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先预测，再验证，再落实到PCB。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9600" y="6191250"/>
            <a:ext cx="10978896" cy="348996"/>
            <a:chOff x="609600" y="6191250"/>
            <a:chExt cx="10978896" cy="348996"/>
          </a:xfrm>
        </p:grpSpPr>
        <p:sp>
          <p:nvSpPr>
            <p:cNvPr id="24" name="Line 24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035132" y="6305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cb_lceda_course">
  <a:themeElements>
    <a:clrScheme name="pcb_lceda_course">
      <a:dk1>
        <a:srgbClr val="243447"/>
      </a:dk1>
      <a:lt1>
        <a:srgbClr val="FAF9F5"/>
      </a:lt1>
      <a:dk2>
        <a:srgbClr val="1F497D"/>
      </a:dk2>
      <a:lt2>
        <a:srgbClr val="FFFFFF"/>
      </a:lt2>
      <a:accent1>
        <a:srgbClr val="16395B"/>
      </a:accent1>
      <a:accent2>
        <a:srgbClr val="E77532"/>
      </a:accent2>
      <a:accent3>
        <a:srgbClr val="377D80"/>
      </a:accent3>
      <a:accent4>
        <a:srgbClr val="16395B"/>
      </a:accent4>
      <a:accent5>
        <a:srgbClr val="627282"/>
      </a:accent5>
      <a:accent6>
        <a:srgbClr val="D5DEE6"/>
      </a:accent6>
      <a:hlink>
        <a:srgbClr val="E77532"/>
      </a:hlink>
      <a:folHlink>
        <a:srgbClr val="377D80"/>
      </a:folHlink>
    </a:clrScheme>
    <a:fontScheme name="pcb_lceda_cours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cb_lceda_cour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cb_lceda_course">
  <a:themeElements>
    <a:clrScheme name="pcb_lceda_course">
      <a:dk1>
        <a:srgbClr val="243447"/>
      </a:dk1>
      <a:lt1>
        <a:srgbClr val="FAF9F5"/>
      </a:lt1>
      <a:dk2>
        <a:srgbClr val="1F497D"/>
      </a:dk2>
      <a:lt2>
        <a:srgbClr val="FFFFFF"/>
      </a:lt2>
      <a:accent1>
        <a:srgbClr val="16395B"/>
      </a:accent1>
      <a:accent2>
        <a:srgbClr val="E77532"/>
      </a:accent2>
      <a:accent3>
        <a:srgbClr val="377D80"/>
      </a:accent3>
      <a:accent4>
        <a:srgbClr val="16395B"/>
      </a:accent4>
      <a:accent5>
        <a:srgbClr val="627282"/>
      </a:accent5>
      <a:accent6>
        <a:srgbClr val="D5DEE6"/>
      </a:accent6>
      <a:hlink>
        <a:srgbClr val="E77532"/>
      </a:hlink>
      <a:folHlink>
        <a:srgbClr val="377D80"/>
      </a:folHlink>
    </a:clrScheme>
    <a:fontScheme name="pcb_lceda_cours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cb_lceda_cour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2026-10-04T16:43:30Z</dcterms:created>
  <dcterms:modified xsi:type="dcterms:W3CDTF">2026-10-04T16:43:30Z</dcterms:modified>
  <cp:category/>
  <cp:contentStatus/>
</cp:coreProperties>
</file>